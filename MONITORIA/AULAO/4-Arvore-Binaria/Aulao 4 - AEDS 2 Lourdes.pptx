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Open Sauce Bold" charset="1" panose="00000800000000000000"/>
      <p:regular r:id="rId50"/>
    </p:embeddedFont>
    <p:embeddedFont>
      <p:font typeface="Antonio" charset="1" panose="02000503000000000000"/>
      <p:regular r:id="rId51"/>
    </p:embeddedFont>
    <p:embeddedFont>
      <p:font typeface="Open Sauce" charset="1" panose="00000500000000000000"/>
      <p:regular r:id="rId52"/>
    </p:embeddedFont>
    <p:embeddedFont>
      <p:font typeface="Antonio Bold" charset="1" panose="02000803000000000000"/>
      <p:regular r:id="rId53"/>
    </p:embeddedFont>
    <p:embeddedFont>
      <p:font typeface="Open Sans" charset="1" panose="020B0606030504020204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8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30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31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34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7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7.png" Type="http://schemas.openxmlformats.org/officeDocument/2006/relationships/image"/><Relationship Id="rId4" Target="../media/image40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7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42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830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-3270436">
            <a:off x="9315878" y="102642"/>
            <a:ext cx="12098771" cy="6654453"/>
            <a:chOff x="0" y="0"/>
            <a:chExt cx="4060919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07104" y="2944648"/>
            <a:ext cx="5246391" cy="5246370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40702" t="0" r="-4070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4173" y="1008740"/>
            <a:ext cx="3338725" cy="717383"/>
            <a:chOff x="0" y="0"/>
            <a:chExt cx="4451634" cy="956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685" cy="956511"/>
            </a:xfrm>
            <a:custGeom>
              <a:avLst/>
              <a:gdLst/>
              <a:ahLst/>
              <a:cxnLst/>
              <a:rect r="r" b="b" t="t" l="l"/>
              <a:pathLst>
                <a:path h="956511" w="928685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98062" y="281637"/>
              <a:ext cx="3053571" cy="364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  <a:spcBef>
                  <a:spcPct val="0"/>
                </a:spcBef>
              </a:pPr>
              <a:r>
                <a:rPr lang="en-US" b="true" sz="170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PUC Minas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700362"/>
            <a:ext cx="8295772" cy="4886276"/>
            <a:chOff x="0" y="0"/>
            <a:chExt cx="11061030" cy="651503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3350"/>
              <a:ext cx="11061030" cy="570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0"/>
                </a:lnSpc>
              </a:pPr>
              <a:r>
                <a:rPr lang="en-US" sz="15000" spc="-675">
                  <a:solidFill>
                    <a:srgbClr val="000000"/>
                  </a:solidFill>
                  <a:latin typeface="Antonio"/>
                  <a:ea typeface="Antonio"/>
                  <a:cs typeface="Antonio"/>
                  <a:sym typeface="Antonio"/>
                </a:rPr>
                <a:t>ÁRVORE BINÁRIA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968967"/>
              <a:ext cx="1106103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AULÃO DE AEDS 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B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7554" y="730685"/>
            <a:ext cx="5029894" cy="1769215"/>
            <a:chOff x="0" y="0"/>
            <a:chExt cx="6350000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6312027" cy="2195449"/>
            </a:xfrm>
            <a:custGeom>
              <a:avLst/>
              <a:gdLst/>
              <a:ahLst/>
              <a:cxnLst/>
              <a:rect r="r" b="b" t="t" l="l"/>
              <a:pathLst>
                <a:path h="2195449" w="6312027">
                  <a:moveTo>
                    <a:pt x="5214112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91490"/>
                    <a:pt x="6312027" y="1097788"/>
                  </a:cubicBezTo>
                  <a:cubicBezTo>
                    <a:pt x="6311900" y="1703959"/>
                    <a:pt x="5820410" y="2195449"/>
                    <a:pt x="5214112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2233549"/>
            </a:xfrm>
            <a:custGeom>
              <a:avLst/>
              <a:gdLst/>
              <a:ahLst/>
              <a:cxnLst/>
              <a:rect r="r" b="b" t="t" l="l"/>
              <a:pathLst>
                <a:path h="2233549" w="6350000">
                  <a:moveTo>
                    <a:pt x="5233162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501015"/>
                    <a:pt x="6350000" y="1116838"/>
                  </a:cubicBezTo>
                  <a:cubicBezTo>
                    <a:pt x="6350000" y="1732534"/>
                    <a:pt x="5848985" y="2233549"/>
                    <a:pt x="5233162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233289" y="2195576"/>
                  </a:lnTo>
                  <a:cubicBezTo>
                    <a:pt x="5828030" y="2195576"/>
                    <a:pt x="6312027" y="1711706"/>
                    <a:pt x="6312027" y="1116838"/>
                  </a:cubicBezTo>
                  <a:cubicBezTo>
                    <a:pt x="6311900" y="521970"/>
                    <a:pt x="5828030" y="38100"/>
                    <a:pt x="5233162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46910" y="1087709"/>
            <a:ext cx="40311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Tópicos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1900" y="2035830"/>
            <a:ext cx="6846851" cy="616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Árvore Binária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</a:t>
            </a: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rvore Binária Completa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</a:t>
            </a: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rvore Binária de Busca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Inserir Java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Inserir C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Pesquisar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Caminhar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471175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618598" y="2353769"/>
            <a:ext cx="6830931" cy="5579462"/>
          </a:xfrm>
          <a:custGeom>
            <a:avLst/>
            <a:gdLst/>
            <a:ahLst/>
            <a:cxnLst/>
            <a:rect r="r" b="b" t="t" l="l"/>
            <a:pathLst>
              <a:path h="5579462" w="6830931">
                <a:moveTo>
                  <a:pt x="0" y="0"/>
                </a:moveTo>
                <a:lnTo>
                  <a:pt x="6830931" y="0"/>
                </a:lnTo>
                <a:lnTo>
                  <a:pt x="6830931" y="5579462"/>
                </a:lnTo>
                <a:lnTo>
                  <a:pt x="0" y="557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492243" y="1295400"/>
            <a:ext cx="5774688" cy="3909060"/>
            <a:chOff x="0" y="0"/>
            <a:chExt cx="7699584" cy="52120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Árvore Binária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2948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 uma árvore binária todo nó possui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no máximo dois filhos.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Nós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sem filhos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são chamados de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folhas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Nós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 filhos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são chamados de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nós internos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Toda árvore tem somente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uma raiz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471175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618598" y="2353769"/>
            <a:ext cx="6830931" cy="5579462"/>
          </a:xfrm>
          <a:custGeom>
            <a:avLst/>
            <a:gdLst/>
            <a:ahLst/>
            <a:cxnLst/>
            <a:rect r="r" b="b" t="t" l="l"/>
            <a:pathLst>
              <a:path h="5579462" w="6830931">
                <a:moveTo>
                  <a:pt x="0" y="0"/>
                </a:moveTo>
                <a:lnTo>
                  <a:pt x="6830931" y="0"/>
                </a:lnTo>
                <a:lnTo>
                  <a:pt x="6830931" y="5579462"/>
                </a:lnTo>
                <a:lnTo>
                  <a:pt x="0" y="557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14489" y="5288717"/>
            <a:ext cx="950677" cy="950677"/>
          </a:xfrm>
          <a:custGeom>
            <a:avLst/>
            <a:gdLst/>
            <a:ahLst/>
            <a:cxnLst/>
            <a:rect r="r" b="b" t="t" l="l"/>
            <a:pathLst>
              <a:path h="950677" w="950677">
                <a:moveTo>
                  <a:pt x="0" y="0"/>
                </a:moveTo>
                <a:lnTo>
                  <a:pt x="950678" y="0"/>
                </a:lnTo>
                <a:lnTo>
                  <a:pt x="950678" y="950677"/>
                </a:lnTo>
                <a:lnTo>
                  <a:pt x="0" y="950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592" y="3986171"/>
            <a:ext cx="950677" cy="950677"/>
          </a:xfrm>
          <a:custGeom>
            <a:avLst/>
            <a:gdLst/>
            <a:ahLst/>
            <a:cxnLst/>
            <a:rect r="r" b="b" t="t" l="l"/>
            <a:pathLst>
              <a:path h="950677" w="950677">
                <a:moveTo>
                  <a:pt x="0" y="0"/>
                </a:moveTo>
                <a:lnTo>
                  <a:pt x="950678" y="0"/>
                </a:lnTo>
                <a:lnTo>
                  <a:pt x="950678" y="950678"/>
                </a:lnTo>
                <a:lnTo>
                  <a:pt x="0" y="950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19676" y="3986171"/>
            <a:ext cx="950677" cy="950677"/>
          </a:xfrm>
          <a:custGeom>
            <a:avLst/>
            <a:gdLst/>
            <a:ahLst/>
            <a:cxnLst/>
            <a:rect r="r" b="b" t="t" l="l"/>
            <a:pathLst>
              <a:path h="950677" w="950677">
                <a:moveTo>
                  <a:pt x="0" y="0"/>
                </a:moveTo>
                <a:lnTo>
                  <a:pt x="950677" y="0"/>
                </a:lnTo>
                <a:lnTo>
                  <a:pt x="950677" y="950678"/>
                </a:lnTo>
                <a:lnTo>
                  <a:pt x="0" y="950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16534" y="6239394"/>
            <a:ext cx="1734288" cy="1043726"/>
          </a:xfrm>
          <a:custGeom>
            <a:avLst/>
            <a:gdLst/>
            <a:ahLst/>
            <a:cxnLst/>
            <a:rect r="r" b="b" t="t" l="l"/>
            <a:pathLst>
              <a:path h="1043726" w="1734288">
                <a:moveTo>
                  <a:pt x="0" y="0"/>
                </a:moveTo>
                <a:lnTo>
                  <a:pt x="1734288" y="0"/>
                </a:lnTo>
                <a:lnTo>
                  <a:pt x="1734288" y="1043726"/>
                </a:lnTo>
                <a:lnTo>
                  <a:pt x="0" y="1043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72305" y="5288717"/>
            <a:ext cx="1542471" cy="928287"/>
          </a:xfrm>
          <a:custGeom>
            <a:avLst/>
            <a:gdLst/>
            <a:ahLst/>
            <a:cxnLst/>
            <a:rect r="r" b="b" t="t" l="l"/>
            <a:pathLst>
              <a:path h="928287" w="1542471">
                <a:moveTo>
                  <a:pt x="0" y="0"/>
                </a:moveTo>
                <a:lnTo>
                  <a:pt x="1542471" y="0"/>
                </a:lnTo>
                <a:lnTo>
                  <a:pt x="1542471" y="928287"/>
                </a:lnTo>
                <a:lnTo>
                  <a:pt x="0" y="92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14776" y="5242192"/>
            <a:ext cx="1514652" cy="911545"/>
          </a:xfrm>
          <a:custGeom>
            <a:avLst/>
            <a:gdLst/>
            <a:ahLst/>
            <a:cxnLst/>
            <a:rect r="r" b="b" t="t" l="l"/>
            <a:pathLst>
              <a:path h="911545" w="1514652">
                <a:moveTo>
                  <a:pt x="0" y="0"/>
                </a:moveTo>
                <a:lnTo>
                  <a:pt x="1514652" y="0"/>
                </a:lnTo>
                <a:lnTo>
                  <a:pt x="1514652" y="911545"/>
                </a:lnTo>
                <a:lnTo>
                  <a:pt x="0" y="9115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492243" y="1295400"/>
            <a:ext cx="5774688" cy="5023485"/>
            <a:chOff x="0" y="0"/>
            <a:chExt cx="7699584" cy="669798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Árvore Binária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263775"/>
              <a:ext cx="7699584" cy="443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 uma árvore binária todo nó possui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no máximo dois filhos.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Nós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sem filhos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são chamados de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folhas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Nós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 filhos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são chamados de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nós internos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Toda árvore tem somente </a:t>
              </a: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uma raiz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Altura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: maior distância entre um nó e a raiz.</a:t>
              </a:r>
            </a:p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50282" y="8831581"/>
            <a:ext cx="5212548" cy="81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75" indent="-259087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 vermelho estão os nós folha</a:t>
            </a:r>
          </a:p>
          <a:p>
            <a:pPr algn="l" marL="518175" indent="-259087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 azul os nós internos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8670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-3270436">
            <a:off x="-3819097" y="5388148"/>
            <a:ext cx="12098771" cy="6654453"/>
            <a:chOff x="0" y="0"/>
            <a:chExt cx="4060919" cy="2233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716656"/>
            <a:ext cx="5541666" cy="5541644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614" t="0" r="-2561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75451" y="1028700"/>
            <a:ext cx="8183849" cy="6004811"/>
            <a:chOff x="0" y="0"/>
            <a:chExt cx="10911799" cy="800641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525"/>
              <a:ext cx="1091179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000000"/>
                  </a:solidFill>
                  <a:latin typeface="Antonio"/>
                  <a:ea typeface="Antonio"/>
                  <a:cs typeface="Antonio"/>
                  <a:sym typeface="Antonio"/>
                </a:rPr>
                <a:t>Regras AB. COMPLETA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128081"/>
              <a:ext cx="10911799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Cada nó é uma folha ou possui exatamente dois filhos.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00699"/>
              <a:ext cx="10911799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  <a:r>
                <a:rPr lang="en-US" b="true" sz="260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REGRA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331389"/>
              <a:ext cx="10911799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Todos os nós possuem a mesma altura.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404007"/>
              <a:ext cx="10911799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  <a:r>
                <a:rPr lang="en-US" b="true" sz="260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REGRA 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540625"/>
              <a:ext cx="10911799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613243"/>
              <a:ext cx="10911799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926171" y="8754110"/>
            <a:ext cx="1903256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Voltar ao </a:t>
            </a:r>
            <a:r>
              <a:rPr lang="en-US" b="true" sz="16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8670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-3270436">
            <a:off x="-3819097" y="5388148"/>
            <a:ext cx="12098771" cy="6654453"/>
            <a:chOff x="0" y="0"/>
            <a:chExt cx="4060919" cy="2233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716656"/>
            <a:ext cx="5541666" cy="5541644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614" t="0" r="-2561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75451" y="1028700"/>
            <a:ext cx="8183849" cy="6376286"/>
            <a:chOff x="0" y="0"/>
            <a:chExt cx="10911799" cy="850171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525"/>
              <a:ext cx="1091179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000000"/>
                  </a:solidFill>
                  <a:latin typeface="Antonio"/>
                  <a:ea typeface="Antonio"/>
                  <a:cs typeface="Antonio"/>
                  <a:sym typeface="Antonio"/>
                </a:rPr>
                <a:t>Regras AB. DE BUSCA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128081"/>
              <a:ext cx="10911799" cy="961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 filho da direita deve ser sempre maior que o pai, e o filho da esquerda deve ser sempre menor que o pai.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00699"/>
              <a:ext cx="10911799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  <a:r>
                <a:rPr lang="en-US" b="true" sz="260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REGRA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826689"/>
              <a:ext cx="10911799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Todo nó tem no máximo dois filhos.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899307"/>
              <a:ext cx="10911799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  <a:r>
                <a:rPr lang="en-US" b="true" sz="260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REGRA 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035925"/>
              <a:ext cx="10911799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108543"/>
              <a:ext cx="10911799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926171" y="8754110"/>
            <a:ext cx="1903256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Voltar ao </a:t>
            </a:r>
            <a:r>
              <a:rPr lang="en-US" b="true" sz="16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8670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-3270436">
            <a:off x="-3819097" y="5388148"/>
            <a:ext cx="12098771" cy="6654453"/>
            <a:chOff x="0" y="0"/>
            <a:chExt cx="4060919" cy="2233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716656"/>
            <a:ext cx="5541666" cy="5541644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614" t="0" r="-25614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284771" y="1028700"/>
            <a:ext cx="11301259" cy="1525670"/>
          </a:xfrm>
          <a:custGeom>
            <a:avLst/>
            <a:gdLst/>
            <a:ahLst/>
            <a:cxnLst/>
            <a:rect r="r" b="b" t="t" l="l"/>
            <a:pathLst>
              <a:path h="1525670" w="11301259">
                <a:moveTo>
                  <a:pt x="0" y="0"/>
                </a:moveTo>
                <a:lnTo>
                  <a:pt x="11301259" y="0"/>
                </a:lnTo>
                <a:lnTo>
                  <a:pt x="11301259" y="1525670"/>
                </a:lnTo>
                <a:lnTo>
                  <a:pt x="0" y="1525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26171" y="8754110"/>
            <a:ext cx="1903256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Voltar ao </a:t>
            </a:r>
            <a:r>
              <a:rPr lang="en-US" b="true" sz="16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86701" cy="10287000"/>
          </a:xfrm>
          <a:prstGeom prst="rect">
            <a:avLst/>
          </a:prstGeom>
          <a:solidFill>
            <a:srgbClr val="48B281"/>
          </a:solidFill>
        </p:spPr>
      </p:sp>
      <p:grpSp>
        <p:nvGrpSpPr>
          <p:cNvPr name="Group 3" id="3"/>
          <p:cNvGrpSpPr/>
          <p:nvPr/>
        </p:nvGrpSpPr>
        <p:grpSpPr>
          <a:xfrm rot="-3270436">
            <a:off x="-3819097" y="5388148"/>
            <a:ext cx="12098771" cy="6654453"/>
            <a:chOff x="0" y="0"/>
            <a:chExt cx="4060919" cy="2233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716656"/>
            <a:ext cx="5541666" cy="5541644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614" t="0" r="-25614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284771" y="1028700"/>
            <a:ext cx="11301259" cy="1525670"/>
          </a:xfrm>
          <a:custGeom>
            <a:avLst/>
            <a:gdLst/>
            <a:ahLst/>
            <a:cxnLst/>
            <a:rect r="r" b="b" t="t" l="l"/>
            <a:pathLst>
              <a:path h="1525670" w="11301259">
                <a:moveTo>
                  <a:pt x="0" y="0"/>
                </a:moveTo>
                <a:lnTo>
                  <a:pt x="11301259" y="0"/>
                </a:lnTo>
                <a:lnTo>
                  <a:pt x="11301259" y="1525670"/>
                </a:lnTo>
                <a:lnTo>
                  <a:pt x="0" y="1525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86701" y="2554370"/>
            <a:ext cx="9538907" cy="5235196"/>
          </a:xfrm>
          <a:custGeom>
            <a:avLst/>
            <a:gdLst/>
            <a:ahLst/>
            <a:cxnLst/>
            <a:rect r="r" b="b" t="t" l="l"/>
            <a:pathLst>
              <a:path h="5235196" w="9538907">
                <a:moveTo>
                  <a:pt x="0" y="0"/>
                </a:moveTo>
                <a:lnTo>
                  <a:pt x="9538907" y="0"/>
                </a:lnTo>
                <a:lnTo>
                  <a:pt x="9538907" y="5235196"/>
                </a:lnTo>
                <a:lnTo>
                  <a:pt x="0" y="5235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868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26171" y="8754110"/>
            <a:ext cx="1903256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Voltar ao </a:t>
            </a:r>
            <a:r>
              <a:rPr lang="en-US" b="true" sz="16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B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51152"/>
            <a:ext cx="12447308" cy="12418337"/>
            <a:chOff x="0" y="0"/>
            <a:chExt cx="6350000" cy="63352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35221"/>
            </a:xfrm>
            <a:custGeom>
              <a:avLst/>
              <a:gdLst/>
              <a:ahLst/>
              <a:cxnLst/>
              <a:rect r="r" b="b" t="t" l="l"/>
              <a:pathLst>
                <a:path h="6335221" w="6350000">
                  <a:moveTo>
                    <a:pt x="6350000" y="3167648"/>
                  </a:moveTo>
                  <a:cubicBezTo>
                    <a:pt x="6350000" y="4917000"/>
                    <a:pt x="4928476" y="6335221"/>
                    <a:pt x="3175000" y="6335221"/>
                  </a:cubicBezTo>
                  <a:cubicBezTo>
                    <a:pt x="1421498" y="6335221"/>
                    <a:pt x="0" y="4917000"/>
                    <a:pt x="0" y="3167648"/>
                  </a:cubicBezTo>
                  <a:cubicBezTo>
                    <a:pt x="0" y="1418208"/>
                    <a:pt x="1421498" y="0"/>
                    <a:pt x="3175000" y="0"/>
                  </a:cubicBezTo>
                  <a:cubicBezTo>
                    <a:pt x="4928502" y="0"/>
                    <a:pt x="6350000" y="1418208"/>
                    <a:pt x="6350000" y="3167648"/>
                  </a:cubicBezTo>
                  <a:close/>
                </a:path>
              </a:pathLst>
            </a:custGeom>
            <a:blipFill>
              <a:blip r:embed="rId2"/>
              <a:stretch>
                <a:fillRect l="-24772" t="0" r="-247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92243" y="1295400"/>
            <a:ext cx="5774688" cy="3537585"/>
            <a:chOff x="0" y="0"/>
            <a:chExt cx="7699584" cy="47167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Benefícios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 custo </a:t>
              </a:r>
              <a:r>
                <a:rPr lang="en-US" sz="21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pode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ser (se a árvore estiver balanceada)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Custo de Pesquisa: O(log n).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Custo de Inserção:  O(log n).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Custo de Pesquisa: O(log n).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2112" y="2312660"/>
            <a:ext cx="9803776" cy="5661681"/>
          </a:xfrm>
          <a:custGeom>
            <a:avLst/>
            <a:gdLst/>
            <a:ahLst/>
            <a:cxnLst/>
            <a:rect r="r" b="b" t="t" l="l"/>
            <a:pathLst>
              <a:path h="5661681" w="9803776">
                <a:moveTo>
                  <a:pt x="0" y="0"/>
                </a:moveTo>
                <a:lnTo>
                  <a:pt x="9803776" y="0"/>
                </a:lnTo>
                <a:lnTo>
                  <a:pt x="9803776" y="5661680"/>
                </a:lnTo>
                <a:lnTo>
                  <a:pt x="0" y="5661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48B281"/>
                  </a:solidFill>
                  <a:latin typeface="Antonio"/>
                  <a:ea typeface="Antonio"/>
                  <a:cs typeface="Antonio"/>
                  <a:sym typeface="Antonio"/>
                </a:rPr>
                <a:t>Classe Nó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982134"/>
            <a:ext cx="11301259" cy="4322732"/>
          </a:xfrm>
          <a:custGeom>
            <a:avLst/>
            <a:gdLst/>
            <a:ahLst/>
            <a:cxnLst/>
            <a:rect r="r" b="b" t="t" l="l"/>
            <a:pathLst>
              <a:path h="4322732" w="11301259">
                <a:moveTo>
                  <a:pt x="0" y="0"/>
                </a:moveTo>
                <a:lnTo>
                  <a:pt x="11301258" y="0"/>
                </a:lnTo>
                <a:lnTo>
                  <a:pt x="11301258" y="4322732"/>
                </a:lnTo>
                <a:lnTo>
                  <a:pt x="0" y="4322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45771" y="3134534"/>
            <a:ext cx="11301259" cy="4322732"/>
          </a:xfrm>
          <a:custGeom>
            <a:avLst/>
            <a:gdLst/>
            <a:ahLst/>
            <a:cxnLst/>
            <a:rect r="r" b="b" t="t" l="l"/>
            <a:pathLst>
              <a:path h="4322732" w="11301259">
                <a:moveTo>
                  <a:pt x="0" y="0"/>
                </a:moveTo>
                <a:lnTo>
                  <a:pt x="11301258" y="0"/>
                </a:lnTo>
                <a:lnTo>
                  <a:pt x="11301258" y="4322732"/>
                </a:lnTo>
                <a:lnTo>
                  <a:pt x="0" y="4322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48B281"/>
                  </a:solidFill>
                  <a:latin typeface="Antonio"/>
                  <a:ea typeface="Antonio"/>
                  <a:cs typeface="Antonio"/>
                  <a:sym typeface="Antonio"/>
                </a:rPr>
                <a:t>Classe Árvore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880305"/>
            <a:ext cx="11301259" cy="1200759"/>
          </a:xfrm>
          <a:custGeom>
            <a:avLst/>
            <a:gdLst/>
            <a:ahLst/>
            <a:cxnLst/>
            <a:rect r="r" b="b" t="t" l="l"/>
            <a:pathLst>
              <a:path h="1200759" w="11301259">
                <a:moveTo>
                  <a:pt x="0" y="0"/>
                </a:moveTo>
                <a:lnTo>
                  <a:pt x="11301258" y="0"/>
                </a:lnTo>
                <a:lnTo>
                  <a:pt x="11301258" y="1200758"/>
                </a:lnTo>
                <a:lnTo>
                  <a:pt x="0" y="1200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880305"/>
            <a:ext cx="11301259" cy="1200759"/>
          </a:xfrm>
          <a:custGeom>
            <a:avLst/>
            <a:gdLst/>
            <a:ahLst/>
            <a:cxnLst/>
            <a:rect r="r" b="b" t="t" l="l"/>
            <a:pathLst>
              <a:path h="1200759" w="11301259">
                <a:moveTo>
                  <a:pt x="0" y="0"/>
                </a:moveTo>
                <a:lnTo>
                  <a:pt x="11301258" y="0"/>
                </a:lnTo>
                <a:lnTo>
                  <a:pt x="11301258" y="1200758"/>
                </a:lnTo>
                <a:lnTo>
                  <a:pt x="0" y="1200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86513" y="1893396"/>
            <a:ext cx="14114973" cy="8010247"/>
          </a:xfrm>
          <a:custGeom>
            <a:avLst/>
            <a:gdLst/>
            <a:ahLst/>
            <a:cxnLst/>
            <a:rect r="r" b="b" t="t" l="l"/>
            <a:pathLst>
              <a:path h="8010247" w="14114973">
                <a:moveTo>
                  <a:pt x="0" y="0"/>
                </a:moveTo>
                <a:lnTo>
                  <a:pt x="14114974" y="0"/>
                </a:lnTo>
                <a:lnTo>
                  <a:pt x="14114974" y="8010247"/>
                </a:lnTo>
                <a:lnTo>
                  <a:pt x="0" y="8010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14813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415165" y="0"/>
            <a:ext cx="7872835" cy="10287000"/>
          </a:xfrm>
          <a:custGeom>
            <a:avLst/>
            <a:gdLst/>
            <a:ahLst/>
            <a:cxnLst/>
            <a:rect r="r" b="b" t="t" l="l"/>
            <a:pathLst>
              <a:path h="10287000" w="7872835">
                <a:moveTo>
                  <a:pt x="0" y="0"/>
                </a:moveTo>
                <a:lnTo>
                  <a:pt x="7872835" y="0"/>
                </a:lnTo>
                <a:lnTo>
                  <a:pt x="787283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067" t="0" r="-47616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25702" y="1028700"/>
            <a:ext cx="9989463" cy="11461366"/>
            <a:chOff x="0" y="0"/>
            <a:chExt cx="13319284" cy="152818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525"/>
              <a:ext cx="13319284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Inserir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403487"/>
              <a:ext cx="13319284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1649"/>
              <a:ext cx="13319284" cy="7831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Podemos pensar no inserir como uma </a:t>
              </a:r>
              <a:r>
                <a:rPr lang="en-US" sz="28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série de if’s</a:t>
              </a:r>
            </a:p>
            <a:p>
              <a:pPr algn="l">
                <a:lnSpc>
                  <a:spcPts val="3920"/>
                </a:lnSpc>
              </a:pPr>
            </a:p>
            <a:p>
              <a:pPr algn="l">
                <a:lnSpc>
                  <a:spcPts val="3920"/>
                </a:lnSpc>
              </a:pPr>
              <a:r>
                <a:rPr lang="en-US" sz="28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1) </a:t>
              </a:r>
              <a:r>
                <a:rPr lang="en-US" sz="2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a raiz estiver </a:t>
              </a:r>
              <a:r>
                <a:rPr lang="en-US" sz="28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vazia</a:t>
              </a:r>
              <a:r>
                <a:rPr lang="en-US" sz="2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inserimos o elemento nela.</a:t>
              </a:r>
            </a:p>
            <a:p>
              <a:pPr algn="l">
                <a:lnSpc>
                  <a:spcPts val="3920"/>
                </a:lnSpc>
              </a:pPr>
            </a:p>
            <a:p>
              <a:pPr algn="l">
                <a:lnSpc>
                  <a:spcPts val="3920"/>
                </a:lnSpc>
              </a:pPr>
              <a:r>
                <a:rPr lang="en-US" sz="28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2) Senão,</a:t>
              </a:r>
              <a:r>
                <a:rPr lang="en-US" sz="2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se o elemento for menos do que a raiz nos movemos para a subárvore da esquerda.</a:t>
              </a:r>
            </a:p>
            <a:p>
              <a:pPr algn="l">
                <a:lnSpc>
                  <a:spcPts val="3920"/>
                </a:lnSpc>
              </a:pPr>
            </a:p>
            <a:p>
              <a:pPr algn="l">
                <a:lnSpc>
                  <a:spcPts val="3920"/>
                </a:lnSpc>
              </a:pPr>
              <a:r>
                <a:rPr lang="en-US" sz="28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3)</a:t>
              </a:r>
              <a:r>
                <a:rPr lang="en-US" sz="2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Senão, </a:t>
              </a:r>
              <a:r>
                <a:rPr lang="en-US" sz="2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o elemento for maior que o da raiz nos movemos para a subárvore da direita.</a:t>
              </a:r>
            </a:p>
            <a:p>
              <a:pPr algn="l">
                <a:lnSpc>
                  <a:spcPts val="3920"/>
                </a:lnSpc>
              </a:pPr>
            </a:p>
            <a:p>
              <a:pPr algn="l">
                <a:lnSpc>
                  <a:spcPts val="3920"/>
                </a:lnSpc>
              </a:pPr>
              <a:r>
                <a:rPr lang="en-US" sz="28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4) Senão, </a:t>
              </a:r>
              <a:r>
                <a:rPr lang="en-US" sz="2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o novo elemento for igual ao da raiz, </a:t>
              </a:r>
              <a:r>
                <a:rPr lang="en-US" sz="28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não inserimos o elemento repetido.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2606796"/>
              <a:ext cx="13319284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679414"/>
              <a:ext cx="13319284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816031"/>
              <a:ext cx="13319284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888649"/>
              <a:ext cx="13319284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68442" y="2530750"/>
            <a:ext cx="7026258" cy="5741390"/>
          </a:xfrm>
          <a:custGeom>
            <a:avLst/>
            <a:gdLst/>
            <a:ahLst/>
            <a:cxnLst/>
            <a:rect r="r" b="b" t="t" l="l"/>
            <a:pathLst>
              <a:path h="5741390" w="7026258">
                <a:moveTo>
                  <a:pt x="0" y="0"/>
                </a:moveTo>
                <a:lnTo>
                  <a:pt x="7026257" y="0"/>
                </a:lnTo>
                <a:lnTo>
                  <a:pt x="7026257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48B281"/>
                  </a:solidFill>
                  <a:latin typeface="Antonio"/>
                  <a:ea typeface="Antonio"/>
                  <a:cs typeface="Antonio"/>
                  <a:sym typeface="Antonio"/>
                </a:rPr>
                <a:t>Inserir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5792" y="1822549"/>
            <a:ext cx="9556417" cy="7971348"/>
          </a:xfrm>
          <a:custGeom>
            <a:avLst/>
            <a:gdLst/>
            <a:ahLst/>
            <a:cxnLst/>
            <a:rect r="r" b="b" t="t" l="l"/>
            <a:pathLst>
              <a:path h="7971348" w="9556417">
                <a:moveTo>
                  <a:pt x="0" y="0"/>
                </a:moveTo>
                <a:lnTo>
                  <a:pt x="9556416" y="0"/>
                </a:lnTo>
                <a:lnTo>
                  <a:pt x="9556416" y="7971348"/>
                </a:lnTo>
                <a:lnTo>
                  <a:pt x="0" y="7971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9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48B281"/>
                  </a:solidFill>
                  <a:latin typeface="Antonio"/>
                  <a:ea typeface="Antonio"/>
                  <a:cs typeface="Antonio"/>
                  <a:sym typeface="Antonio"/>
                </a:rPr>
                <a:t>Inserir em C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0284" y="1822549"/>
            <a:ext cx="12703343" cy="7971348"/>
          </a:xfrm>
          <a:custGeom>
            <a:avLst/>
            <a:gdLst/>
            <a:ahLst/>
            <a:cxnLst/>
            <a:rect r="r" b="b" t="t" l="l"/>
            <a:pathLst>
              <a:path h="7971348" w="12703343">
                <a:moveTo>
                  <a:pt x="0" y="0"/>
                </a:moveTo>
                <a:lnTo>
                  <a:pt x="12703343" y="0"/>
                </a:lnTo>
                <a:lnTo>
                  <a:pt x="12703343" y="7971348"/>
                </a:lnTo>
                <a:lnTo>
                  <a:pt x="0" y="7971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48B281"/>
                  </a:solidFill>
                  <a:latin typeface="Antonio"/>
                  <a:ea typeface="Antonio"/>
                  <a:cs typeface="Antonio"/>
                  <a:sym typeface="Antonio"/>
                </a:rPr>
                <a:t>Inserir em C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1002" y="3057866"/>
            <a:ext cx="14910838" cy="8405985"/>
          </a:xfrm>
          <a:custGeom>
            <a:avLst/>
            <a:gdLst/>
            <a:ahLst/>
            <a:cxnLst/>
            <a:rect r="r" b="b" t="t" l="l"/>
            <a:pathLst>
              <a:path h="8405985" w="14910838">
                <a:moveTo>
                  <a:pt x="0" y="0"/>
                </a:moveTo>
                <a:lnTo>
                  <a:pt x="14910838" y="0"/>
                </a:lnTo>
                <a:lnTo>
                  <a:pt x="14910838" y="8405985"/>
                </a:lnTo>
                <a:lnTo>
                  <a:pt x="0" y="8405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Nó em C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2189" y="2014504"/>
            <a:ext cx="13374117" cy="7957600"/>
          </a:xfrm>
          <a:custGeom>
            <a:avLst/>
            <a:gdLst/>
            <a:ahLst/>
            <a:cxnLst/>
            <a:rect r="r" b="b" t="t" l="l"/>
            <a:pathLst>
              <a:path h="7957600" w="13374117">
                <a:moveTo>
                  <a:pt x="0" y="0"/>
                </a:moveTo>
                <a:lnTo>
                  <a:pt x="13374117" y="0"/>
                </a:lnTo>
                <a:lnTo>
                  <a:pt x="13374117" y="7957600"/>
                </a:lnTo>
                <a:lnTo>
                  <a:pt x="0" y="79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48B281"/>
                  </a:solidFill>
                  <a:latin typeface="Antonio"/>
                  <a:ea typeface="Antonio"/>
                  <a:cs typeface="Antonio"/>
                  <a:sym typeface="Antonio"/>
                </a:rPr>
                <a:t>Inserir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14813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415165" y="0"/>
            <a:ext cx="7872835" cy="10287000"/>
          </a:xfrm>
          <a:custGeom>
            <a:avLst/>
            <a:gdLst/>
            <a:ahLst/>
            <a:cxnLst/>
            <a:rect r="r" b="b" t="t" l="l"/>
            <a:pathLst>
              <a:path h="10287000" w="7872835">
                <a:moveTo>
                  <a:pt x="0" y="0"/>
                </a:moveTo>
                <a:lnTo>
                  <a:pt x="7872835" y="0"/>
                </a:lnTo>
                <a:lnTo>
                  <a:pt x="787283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067" t="0" r="-47616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25702" y="2927350"/>
            <a:ext cx="8966206" cy="7664066"/>
            <a:chOff x="0" y="0"/>
            <a:chExt cx="11954941" cy="1021875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525"/>
              <a:ext cx="1195494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PESQUISAR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340421"/>
              <a:ext cx="11954941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1649"/>
              <a:ext cx="11954941" cy="2768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60"/>
                </a:lnSpc>
              </a:pPr>
              <a:r>
                <a:rPr lang="en-US" sz="32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Para a pesquisa na árvore binária de busca, </a:t>
              </a:r>
              <a:r>
                <a:rPr lang="en-US" b="true" sz="32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obrigatoriamente</a:t>
              </a:r>
              <a:r>
                <a:rPr lang="en-US" sz="32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os filhos da esquerda serão menores, e os filhos da direita serão maiores.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543730"/>
              <a:ext cx="11954941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616348"/>
              <a:ext cx="11954941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752965"/>
              <a:ext cx="11954941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825583"/>
              <a:ext cx="11954941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97337" y="3002590"/>
            <a:ext cx="7473431" cy="5414881"/>
          </a:xfrm>
          <a:custGeom>
            <a:avLst/>
            <a:gdLst/>
            <a:ahLst/>
            <a:cxnLst/>
            <a:rect r="r" b="b" t="t" l="l"/>
            <a:pathLst>
              <a:path h="5414881" w="7473431">
                <a:moveTo>
                  <a:pt x="0" y="0"/>
                </a:moveTo>
                <a:lnTo>
                  <a:pt x="7473431" y="0"/>
                </a:lnTo>
                <a:lnTo>
                  <a:pt x="7473431" y="5414881"/>
                </a:lnTo>
                <a:lnTo>
                  <a:pt x="0" y="541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97337" y="3002590"/>
            <a:ext cx="7473431" cy="5414881"/>
          </a:xfrm>
          <a:custGeom>
            <a:avLst/>
            <a:gdLst/>
            <a:ahLst/>
            <a:cxnLst/>
            <a:rect r="r" b="b" t="t" l="l"/>
            <a:pathLst>
              <a:path h="5414881" w="7473431">
                <a:moveTo>
                  <a:pt x="0" y="0"/>
                </a:moveTo>
                <a:lnTo>
                  <a:pt x="7473431" y="0"/>
                </a:lnTo>
                <a:lnTo>
                  <a:pt x="7473431" y="5414881"/>
                </a:lnTo>
                <a:lnTo>
                  <a:pt x="0" y="541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976" y="2031973"/>
            <a:ext cx="8055977" cy="7872290"/>
          </a:xfrm>
          <a:custGeom>
            <a:avLst/>
            <a:gdLst/>
            <a:ahLst/>
            <a:cxnLst/>
            <a:rect r="r" b="b" t="t" l="l"/>
            <a:pathLst>
              <a:path h="7872290" w="8055977">
                <a:moveTo>
                  <a:pt x="0" y="0"/>
                </a:moveTo>
                <a:lnTo>
                  <a:pt x="8055977" y="0"/>
                </a:lnTo>
                <a:lnTo>
                  <a:pt x="8055977" y="7872290"/>
                </a:lnTo>
                <a:lnTo>
                  <a:pt x="0" y="7872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97337" y="300259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2451" y="2031973"/>
            <a:ext cx="8055977" cy="7913813"/>
          </a:xfrm>
          <a:custGeom>
            <a:avLst/>
            <a:gdLst/>
            <a:ahLst/>
            <a:cxnLst/>
            <a:rect r="r" b="b" t="t" l="l"/>
            <a:pathLst>
              <a:path h="7913813" w="8055977">
                <a:moveTo>
                  <a:pt x="0" y="0"/>
                </a:moveTo>
                <a:lnTo>
                  <a:pt x="8055977" y="0"/>
                </a:lnTo>
                <a:lnTo>
                  <a:pt x="8055977" y="7913813"/>
                </a:lnTo>
                <a:lnTo>
                  <a:pt x="0" y="7913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97337" y="300259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55977" cy="7913813"/>
          </a:xfrm>
          <a:custGeom>
            <a:avLst/>
            <a:gdLst/>
            <a:ahLst/>
            <a:cxnLst/>
            <a:rect r="r" b="b" t="t" l="l"/>
            <a:pathLst>
              <a:path h="7913813" w="8055977">
                <a:moveTo>
                  <a:pt x="0" y="0"/>
                </a:moveTo>
                <a:lnTo>
                  <a:pt x="8055977" y="0"/>
                </a:lnTo>
                <a:lnTo>
                  <a:pt x="8055977" y="7913813"/>
                </a:lnTo>
                <a:lnTo>
                  <a:pt x="0" y="7913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976" y="2031973"/>
            <a:ext cx="8026497" cy="7884853"/>
          </a:xfrm>
          <a:custGeom>
            <a:avLst/>
            <a:gdLst/>
            <a:ahLst/>
            <a:cxnLst/>
            <a:rect r="r" b="b" t="t" l="l"/>
            <a:pathLst>
              <a:path h="7884853" w="8026497">
                <a:moveTo>
                  <a:pt x="0" y="0"/>
                </a:moveTo>
                <a:lnTo>
                  <a:pt x="8026497" y="0"/>
                </a:lnTo>
                <a:lnTo>
                  <a:pt x="802649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97337" y="300259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55977" cy="7913813"/>
          </a:xfrm>
          <a:custGeom>
            <a:avLst/>
            <a:gdLst/>
            <a:ahLst/>
            <a:cxnLst/>
            <a:rect r="r" b="b" t="t" l="l"/>
            <a:pathLst>
              <a:path h="7913813" w="8055977">
                <a:moveTo>
                  <a:pt x="0" y="0"/>
                </a:moveTo>
                <a:lnTo>
                  <a:pt x="8055977" y="0"/>
                </a:lnTo>
                <a:lnTo>
                  <a:pt x="8055977" y="7913813"/>
                </a:lnTo>
                <a:lnTo>
                  <a:pt x="0" y="7913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97337" y="300259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26497" cy="7884853"/>
          </a:xfrm>
          <a:custGeom>
            <a:avLst/>
            <a:gdLst/>
            <a:ahLst/>
            <a:cxnLst/>
            <a:rect r="r" b="b" t="t" l="l"/>
            <a:pathLst>
              <a:path h="7884853" w="8026497">
                <a:moveTo>
                  <a:pt x="0" y="0"/>
                </a:moveTo>
                <a:lnTo>
                  <a:pt x="8026497" y="0"/>
                </a:lnTo>
                <a:lnTo>
                  <a:pt x="802649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97337" y="300259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26497" cy="7884853"/>
          </a:xfrm>
          <a:custGeom>
            <a:avLst/>
            <a:gdLst/>
            <a:ahLst/>
            <a:cxnLst/>
            <a:rect r="r" b="b" t="t" l="l"/>
            <a:pathLst>
              <a:path h="7884853" w="8026497">
                <a:moveTo>
                  <a:pt x="0" y="0"/>
                </a:moveTo>
                <a:lnTo>
                  <a:pt x="8026497" y="0"/>
                </a:lnTo>
                <a:lnTo>
                  <a:pt x="802649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87657" y="3645101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55977" cy="7884853"/>
          </a:xfrm>
          <a:custGeom>
            <a:avLst/>
            <a:gdLst/>
            <a:ahLst/>
            <a:cxnLst/>
            <a:rect r="r" b="b" t="t" l="l"/>
            <a:pathLst>
              <a:path h="7884853" w="8055977">
                <a:moveTo>
                  <a:pt x="0" y="0"/>
                </a:moveTo>
                <a:lnTo>
                  <a:pt x="8055977" y="0"/>
                </a:lnTo>
                <a:lnTo>
                  <a:pt x="8055977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220626" cy="8011899"/>
          </a:xfrm>
          <a:custGeom>
            <a:avLst/>
            <a:gdLst/>
            <a:ahLst/>
            <a:cxnLst/>
            <a:rect r="r" b="b" t="t" l="l"/>
            <a:pathLst>
              <a:path h="8011899" w="8220626">
                <a:moveTo>
                  <a:pt x="0" y="0"/>
                </a:moveTo>
                <a:lnTo>
                  <a:pt x="8220626" y="0"/>
                </a:lnTo>
                <a:lnTo>
                  <a:pt x="8220626" y="8011899"/>
                </a:lnTo>
                <a:lnTo>
                  <a:pt x="0" y="8011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10807" y="342918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5"/>
                </a:lnTo>
                <a:lnTo>
                  <a:pt x="0" y="52174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10807" y="342918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5"/>
                </a:lnTo>
                <a:lnTo>
                  <a:pt x="0" y="5217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310807" y="342918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5"/>
                </a:lnTo>
                <a:lnTo>
                  <a:pt x="0" y="52174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310807" y="3429180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3" y="0"/>
                </a:lnTo>
                <a:lnTo>
                  <a:pt x="7376443" y="5217485"/>
                </a:lnTo>
                <a:lnTo>
                  <a:pt x="0" y="52174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76121" y="3144358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4" y="0"/>
                </a:lnTo>
                <a:lnTo>
                  <a:pt x="7376444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76121" y="3144358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4" y="0"/>
                </a:lnTo>
                <a:lnTo>
                  <a:pt x="7376444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76121" y="3144358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4" y="0"/>
                </a:lnTo>
                <a:lnTo>
                  <a:pt x="7376444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376121" y="3144358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4" y="0"/>
                </a:lnTo>
                <a:lnTo>
                  <a:pt x="7376444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1976" y="2031973"/>
            <a:ext cx="8090270" cy="7884853"/>
          </a:xfrm>
          <a:custGeom>
            <a:avLst/>
            <a:gdLst/>
            <a:ahLst/>
            <a:cxnLst/>
            <a:rect r="r" b="b" t="t" l="l"/>
            <a:pathLst>
              <a:path h="7884853" w="8090270">
                <a:moveTo>
                  <a:pt x="0" y="0"/>
                </a:moveTo>
                <a:lnTo>
                  <a:pt x="8090270" y="0"/>
                </a:lnTo>
                <a:lnTo>
                  <a:pt x="8090270" y="7884853"/>
                </a:lnTo>
                <a:lnTo>
                  <a:pt x="0" y="7884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1976" y="2031973"/>
            <a:ext cx="8256337" cy="8046703"/>
          </a:xfrm>
          <a:custGeom>
            <a:avLst/>
            <a:gdLst/>
            <a:ahLst/>
            <a:cxnLst/>
            <a:rect r="r" b="b" t="t" l="l"/>
            <a:pathLst>
              <a:path h="8046703" w="8256337">
                <a:moveTo>
                  <a:pt x="0" y="0"/>
                </a:moveTo>
                <a:lnTo>
                  <a:pt x="8256337" y="0"/>
                </a:lnTo>
                <a:lnTo>
                  <a:pt x="8256337" y="8046703"/>
                </a:lnTo>
                <a:lnTo>
                  <a:pt x="0" y="8046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PESQUISAR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76121" y="3144358"/>
            <a:ext cx="7376443" cy="5217484"/>
          </a:xfrm>
          <a:custGeom>
            <a:avLst/>
            <a:gdLst/>
            <a:ahLst/>
            <a:cxnLst/>
            <a:rect r="r" b="b" t="t" l="l"/>
            <a:pathLst>
              <a:path h="5217484" w="7376443">
                <a:moveTo>
                  <a:pt x="0" y="0"/>
                </a:moveTo>
                <a:lnTo>
                  <a:pt x="7376444" y="0"/>
                </a:lnTo>
                <a:lnTo>
                  <a:pt x="7376444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1481337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415165" y="0"/>
            <a:ext cx="7872835" cy="10287000"/>
          </a:xfrm>
          <a:custGeom>
            <a:avLst/>
            <a:gdLst/>
            <a:ahLst/>
            <a:cxnLst/>
            <a:rect r="r" b="b" t="t" l="l"/>
            <a:pathLst>
              <a:path h="10287000" w="7872835">
                <a:moveTo>
                  <a:pt x="0" y="0"/>
                </a:moveTo>
                <a:lnTo>
                  <a:pt x="7872835" y="0"/>
                </a:lnTo>
                <a:lnTo>
                  <a:pt x="787283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067" t="0" r="-47616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6959" y="678089"/>
            <a:ext cx="8966206" cy="12902816"/>
            <a:chOff x="0" y="0"/>
            <a:chExt cx="11954941" cy="1720375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525"/>
              <a:ext cx="1195494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CAMINHAR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325421"/>
              <a:ext cx="11954941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1649"/>
              <a:ext cx="11954941" cy="9753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6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Caminhar Pre: </a:t>
              </a:r>
              <a:r>
                <a:rPr lang="en-US" sz="32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Primeiro printa o elemento para depois caminhar. (Printa primeiro os pais).</a:t>
              </a:r>
            </a:p>
            <a:p>
              <a:pPr algn="just">
                <a:lnSpc>
                  <a:spcPts val="4160"/>
                </a:lnSpc>
              </a:pPr>
            </a:p>
            <a:p>
              <a:pPr algn="just">
                <a:lnSpc>
                  <a:spcPts val="4160"/>
                </a:lnSpc>
              </a:pPr>
              <a:r>
                <a:rPr lang="en-US" sz="32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Caminhar Pos: </a:t>
              </a:r>
              <a:r>
                <a:rPr lang="en-US" sz="32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Primeiro caminha para os dois lados até nulo para depois printar o elemento. (Printa primeiro os filhos).</a:t>
              </a:r>
            </a:p>
            <a:p>
              <a:pPr algn="just">
                <a:lnSpc>
                  <a:spcPts val="4160"/>
                </a:lnSpc>
              </a:pPr>
            </a:p>
            <a:p>
              <a:pPr algn="just">
                <a:lnSpc>
                  <a:spcPts val="4160"/>
                </a:lnSpc>
              </a:pPr>
              <a:r>
                <a:rPr lang="en-US" b="true" sz="320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Caminhar Central:</a:t>
              </a:r>
              <a:r>
                <a:rPr lang="en-US" sz="32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Primeiro caminha para um lado até o nulo, após isso printa o elemento, e após caminha para a direita até o nulo. (Printa em ordem crescente, ou, decrescente, dependendo para qual lado caminhar).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4528730"/>
              <a:ext cx="11954941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601348"/>
              <a:ext cx="11954941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6737965"/>
              <a:ext cx="11954941" cy="465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5810583"/>
              <a:ext cx="11954941" cy="536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0"/>
                </a:lnSpc>
              </a:pP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65756" y="2098060"/>
            <a:ext cx="14356488" cy="7626885"/>
          </a:xfrm>
          <a:custGeom>
            <a:avLst/>
            <a:gdLst/>
            <a:ahLst/>
            <a:cxnLst/>
            <a:rect r="r" b="b" t="t" l="l"/>
            <a:pathLst>
              <a:path h="7626885" w="14356488">
                <a:moveTo>
                  <a:pt x="0" y="0"/>
                </a:moveTo>
                <a:lnTo>
                  <a:pt x="14356488" y="0"/>
                </a:lnTo>
                <a:lnTo>
                  <a:pt x="14356488" y="7626885"/>
                </a:lnTo>
                <a:lnTo>
                  <a:pt x="0" y="7626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CAMINHAR PRE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0627" y="1822549"/>
            <a:ext cx="13509292" cy="7987369"/>
          </a:xfrm>
          <a:custGeom>
            <a:avLst/>
            <a:gdLst/>
            <a:ahLst/>
            <a:cxnLst/>
            <a:rect r="r" b="b" t="t" l="l"/>
            <a:pathLst>
              <a:path h="7987369" w="13509292">
                <a:moveTo>
                  <a:pt x="0" y="0"/>
                </a:moveTo>
                <a:lnTo>
                  <a:pt x="13509292" y="0"/>
                </a:lnTo>
                <a:lnTo>
                  <a:pt x="13509292" y="7987369"/>
                </a:lnTo>
                <a:lnTo>
                  <a:pt x="0" y="7987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CAMINHAR PRE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20920" y="2098060"/>
            <a:ext cx="14446161" cy="7674523"/>
          </a:xfrm>
          <a:custGeom>
            <a:avLst/>
            <a:gdLst/>
            <a:ahLst/>
            <a:cxnLst/>
            <a:rect r="r" b="b" t="t" l="l"/>
            <a:pathLst>
              <a:path h="7674523" w="14446161">
                <a:moveTo>
                  <a:pt x="0" y="0"/>
                </a:moveTo>
                <a:lnTo>
                  <a:pt x="14446160" y="0"/>
                </a:lnTo>
                <a:lnTo>
                  <a:pt x="14446160" y="7674523"/>
                </a:lnTo>
                <a:lnTo>
                  <a:pt x="0" y="7674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CAMINHAR POS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4530" y="1822549"/>
            <a:ext cx="13835278" cy="8180108"/>
          </a:xfrm>
          <a:custGeom>
            <a:avLst/>
            <a:gdLst/>
            <a:ahLst/>
            <a:cxnLst/>
            <a:rect r="r" b="b" t="t" l="l"/>
            <a:pathLst>
              <a:path h="8180108" w="13835278">
                <a:moveTo>
                  <a:pt x="0" y="0"/>
                </a:moveTo>
                <a:lnTo>
                  <a:pt x="13835278" y="0"/>
                </a:lnTo>
                <a:lnTo>
                  <a:pt x="13835278" y="8180108"/>
                </a:lnTo>
                <a:lnTo>
                  <a:pt x="0" y="8180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5774688" cy="2051685"/>
            <a:chOff x="0" y="0"/>
            <a:chExt cx="7699584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CAMINHAR POS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769958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3313" y="2337546"/>
            <a:ext cx="13765929" cy="7313150"/>
          </a:xfrm>
          <a:custGeom>
            <a:avLst/>
            <a:gdLst/>
            <a:ahLst/>
            <a:cxnLst/>
            <a:rect r="r" b="b" t="t" l="l"/>
            <a:pathLst>
              <a:path h="7313150" w="13765929">
                <a:moveTo>
                  <a:pt x="0" y="0"/>
                </a:moveTo>
                <a:lnTo>
                  <a:pt x="13765930" y="0"/>
                </a:lnTo>
                <a:lnTo>
                  <a:pt x="13765930" y="7313150"/>
                </a:lnTo>
                <a:lnTo>
                  <a:pt x="0" y="7313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6797945" cy="2051685"/>
            <a:chOff x="0" y="0"/>
            <a:chExt cx="9063927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978" y="9525"/>
              <a:ext cx="905194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CAMINHAR CENTRAL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906392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7824" y="1953178"/>
            <a:ext cx="13832353" cy="8178379"/>
          </a:xfrm>
          <a:custGeom>
            <a:avLst/>
            <a:gdLst/>
            <a:ahLst/>
            <a:cxnLst/>
            <a:rect r="r" b="b" t="t" l="l"/>
            <a:pathLst>
              <a:path h="8178379" w="13832353">
                <a:moveTo>
                  <a:pt x="0" y="0"/>
                </a:moveTo>
                <a:lnTo>
                  <a:pt x="13832352" y="0"/>
                </a:lnTo>
                <a:lnTo>
                  <a:pt x="13832352" y="8178378"/>
                </a:lnTo>
                <a:lnTo>
                  <a:pt x="0" y="8178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940" y="796707"/>
            <a:ext cx="6797945" cy="2051685"/>
            <a:chOff x="0" y="0"/>
            <a:chExt cx="9063927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978" y="9525"/>
              <a:ext cx="905194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48B281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CAMINHAR CENTRAL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906392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DAG2j6Tn44U</dc:identifier>
  <dcterms:modified xsi:type="dcterms:W3CDTF">2011-08-01T06:04:30Z</dcterms:modified>
  <cp:revision>1</cp:revision>
  <dc:title>Aulao 4 - AEDS 2 Lourdes</dc:title>
</cp:coreProperties>
</file>