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Open Sauce Bold" charset="1" panose="00000800000000000000"/>
      <p:regular r:id="rId41"/>
    </p:embeddedFont>
    <p:embeddedFont>
      <p:font typeface="Antonio" charset="1" panose="02000503000000000000"/>
      <p:regular r:id="rId42"/>
    </p:embeddedFont>
    <p:embeddedFont>
      <p:font typeface="Open Sauce" charset="1" panose="00000500000000000000"/>
      <p:regular r:id="rId43"/>
    </p:embeddedFont>
    <p:embeddedFont>
      <p:font typeface="Antonio Bold" charset="1" panose="02000803000000000000"/>
      <p:regular r:id="rId44"/>
    </p:embeddedFont>
    <p:embeddedFont>
      <p:font typeface="Open Sans" charset="1" panose="020B0606030504020204"/>
      <p:regular r:id="rId45"/>
    </p:embeddedFont>
    <p:embeddedFont>
      <p:font typeface="Anton" charset="1" panose="0000050000000000000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88304" y="-1513365"/>
            <a:ext cx="13313729" cy="13313729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-3270436">
            <a:off x="9315878" y="102642"/>
            <a:ext cx="12098771" cy="6654453"/>
            <a:chOff x="0" y="0"/>
            <a:chExt cx="4060919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4022947" cy="2195449"/>
            </a:xfrm>
            <a:custGeom>
              <a:avLst/>
              <a:gdLst/>
              <a:ahLst/>
              <a:cxnLst/>
              <a:rect r="r" b="b" t="t" l="l"/>
              <a:pathLst>
                <a:path h="2195449" w="4022947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F1EEE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0920" cy="2233549"/>
            </a:xfrm>
            <a:custGeom>
              <a:avLst/>
              <a:gdLst/>
              <a:ahLst/>
              <a:cxnLst/>
              <a:rect r="r" b="b" t="t" l="l"/>
              <a:pathLst>
                <a:path h="2233549" w="406092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F1EEE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07104" y="2944648"/>
            <a:ext cx="5246391" cy="5246370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45693" t="0" r="-4569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4173" y="1008740"/>
            <a:ext cx="3338725" cy="717383"/>
            <a:chOff x="0" y="0"/>
            <a:chExt cx="4451634" cy="956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685" cy="956511"/>
            </a:xfrm>
            <a:custGeom>
              <a:avLst/>
              <a:gdLst/>
              <a:ahLst/>
              <a:cxnLst/>
              <a:rect r="r" b="b" t="t" l="l"/>
              <a:pathLst>
                <a:path h="956511" w="928685">
                  <a:moveTo>
                    <a:pt x="0" y="0"/>
                  </a:moveTo>
                  <a:lnTo>
                    <a:pt x="928685" y="0"/>
                  </a:lnTo>
                  <a:lnTo>
                    <a:pt x="928685" y="956511"/>
                  </a:lnTo>
                  <a:lnTo>
                    <a:pt x="0" y="956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98062" y="281637"/>
              <a:ext cx="3053571" cy="364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  <a:spcBef>
                  <a:spcPct val="0"/>
                </a:spcBef>
              </a:pPr>
              <a:r>
                <a:rPr lang="en-US" b="true" sz="170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PUC Minas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3748112"/>
            <a:ext cx="8295772" cy="2790776"/>
            <a:chOff x="0" y="0"/>
            <a:chExt cx="11061030" cy="372103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3350"/>
              <a:ext cx="11061030" cy="291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0"/>
                </a:lnSpc>
              </a:pPr>
              <a:r>
                <a:rPr lang="en-US" sz="15000" spc="-675">
                  <a:solidFill>
                    <a:srgbClr val="000000"/>
                  </a:solidFill>
                  <a:latin typeface="Antonio"/>
                  <a:ea typeface="Antonio"/>
                  <a:cs typeface="Antonio"/>
                  <a:sym typeface="Antonio"/>
                </a:rPr>
                <a:t>SOMATÓRIOS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174967"/>
              <a:ext cx="11061030" cy="54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AULÃO DE AEDS 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B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03308" y="-680073"/>
            <a:ext cx="12447308" cy="12447258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7554" y="730685"/>
            <a:ext cx="5029894" cy="1769215"/>
            <a:chOff x="0" y="0"/>
            <a:chExt cx="6350000" cy="22335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050" y="19050"/>
              <a:ext cx="6312027" cy="2195449"/>
            </a:xfrm>
            <a:custGeom>
              <a:avLst/>
              <a:gdLst/>
              <a:ahLst/>
              <a:cxnLst/>
              <a:rect r="r" b="b" t="t" l="l"/>
              <a:pathLst>
                <a:path h="2195449" w="6312027">
                  <a:moveTo>
                    <a:pt x="5214112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5214239" y="0"/>
                  </a:lnTo>
                  <a:cubicBezTo>
                    <a:pt x="5820537" y="0"/>
                    <a:pt x="6312027" y="491490"/>
                    <a:pt x="6312027" y="1097788"/>
                  </a:cubicBezTo>
                  <a:cubicBezTo>
                    <a:pt x="6311900" y="1703959"/>
                    <a:pt x="5820410" y="2195449"/>
                    <a:pt x="5214112" y="2195449"/>
                  </a:cubicBezTo>
                  <a:close/>
                </a:path>
              </a:pathLst>
            </a:custGeom>
            <a:solidFill>
              <a:srgbClr val="68D6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2233549"/>
            </a:xfrm>
            <a:custGeom>
              <a:avLst/>
              <a:gdLst/>
              <a:ahLst/>
              <a:cxnLst/>
              <a:rect r="r" b="b" t="t" l="l"/>
              <a:pathLst>
                <a:path h="2233549" w="6350000">
                  <a:moveTo>
                    <a:pt x="5233162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5233289" y="0"/>
                  </a:lnTo>
                  <a:cubicBezTo>
                    <a:pt x="5848985" y="0"/>
                    <a:pt x="6350000" y="501015"/>
                    <a:pt x="6350000" y="1116838"/>
                  </a:cubicBezTo>
                  <a:cubicBezTo>
                    <a:pt x="6350000" y="1732534"/>
                    <a:pt x="5848985" y="2233549"/>
                    <a:pt x="5233162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5233289" y="2195576"/>
                  </a:lnTo>
                  <a:cubicBezTo>
                    <a:pt x="5828030" y="2195576"/>
                    <a:pt x="6312027" y="1711706"/>
                    <a:pt x="6312027" y="1116838"/>
                  </a:cubicBezTo>
                  <a:cubicBezTo>
                    <a:pt x="6311900" y="521970"/>
                    <a:pt x="5828030" y="38100"/>
                    <a:pt x="5233162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68D6A3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46910" y="1087709"/>
            <a:ext cx="403118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</a:pPr>
            <a:r>
              <a:rPr lang="en-US" b="true" sz="6999" spc="-139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Tópicos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12449" y="2078309"/>
            <a:ext cx="6846851" cy="67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 que é um somatório?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Como resolvemos somatórios?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Distributividade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Associatividade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Comutatividade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Combinação de Conjuntos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Somatórios Úteis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Base para a perturbação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Notação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Prova por Indução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Análise de Complexidade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Exercícios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471175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43007" y="2643738"/>
            <a:ext cx="6311002" cy="4557946"/>
          </a:xfrm>
          <a:custGeom>
            <a:avLst/>
            <a:gdLst/>
            <a:ahLst/>
            <a:cxnLst/>
            <a:rect r="r" b="b" t="t" l="l"/>
            <a:pathLst>
              <a:path h="4557946" w="6311002">
                <a:moveTo>
                  <a:pt x="0" y="0"/>
                </a:moveTo>
                <a:lnTo>
                  <a:pt x="6311002" y="0"/>
                </a:lnTo>
                <a:lnTo>
                  <a:pt x="6311002" y="4557945"/>
                </a:lnTo>
                <a:lnTo>
                  <a:pt x="0" y="4557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66210" y="2063944"/>
            <a:ext cx="3692764" cy="5532383"/>
          </a:xfrm>
          <a:custGeom>
            <a:avLst/>
            <a:gdLst/>
            <a:ahLst/>
            <a:cxnLst/>
            <a:rect r="r" b="b" t="t" l="l"/>
            <a:pathLst>
              <a:path h="5532383" w="3692764">
                <a:moveTo>
                  <a:pt x="0" y="0"/>
                </a:moveTo>
                <a:lnTo>
                  <a:pt x="3692764" y="0"/>
                </a:lnTo>
                <a:lnTo>
                  <a:pt x="3692764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492243" y="1295400"/>
            <a:ext cx="5774688" cy="4966335"/>
            <a:chOff x="0" y="0"/>
            <a:chExt cx="7699584" cy="6621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O que é um somatório?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673475"/>
              <a:ext cx="7699584" cy="2948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 jeito mais fácil de entender um somatório é pensar nele como uma estrutura for escrita de forma diferente.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Nesse caso, ele vai realizar a soma de i,  n-1 vezes.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471175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43007" y="2643738"/>
            <a:ext cx="6311002" cy="4557946"/>
          </a:xfrm>
          <a:custGeom>
            <a:avLst/>
            <a:gdLst/>
            <a:ahLst/>
            <a:cxnLst/>
            <a:rect r="r" b="b" t="t" l="l"/>
            <a:pathLst>
              <a:path h="4557946" w="6311002">
                <a:moveTo>
                  <a:pt x="0" y="0"/>
                </a:moveTo>
                <a:lnTo>
                  <a:pt x="6311002" y="0"/>
                </a:lnTo>
                <a:lnTo>
                  <a:pt x="6311002" y="4557945"/>
                </a:lnTo>
                <a:lnTo>
                  <a:pt x="0" y="4557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66210" y="2063944"/>
            <a:ext cx="3692764" cy="5532383"/>
          </a:xfrm>
          <a:custGeom>
            <a:avLst/>
            <a:gdLst/>
            <a:ahLst/>
            <a:cxnLst/>
            <a:rect r="r" b="b" t="t" l="l"/>
            <a:pathLst>
              <a:path h="5532383" w="3692764">
                <a:moveTo>
                  <a:pt x="0" y="0"/>
                </a:moveTo>
                <a:lnTo>
                  <a:pt x="3692764" y="0"/>
                </a:lnTo>
                <a:lnTo>
                  <a:pt x="3692764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492243" y="1295400"/>
            <a:ext cx="5774688" cy="4966335"/>
            <a:chOff x="0" y="0"/>
            <a:chExt cx="7699584" cy="66217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O que é um somatório?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673475"/>
              <a:ext cx="7699584" cy="2948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 jeito mais fácil de entender um somatório é pensar nele como uma estrutura for escrita de forma diferente.</a:t>
              </a:r>
            </a:p>
            <a:p>
              <a:pPr algn="l">
                <a:lnSpc>
                  <a:spcPts val="2940"/>
                </a:lnSpc>
              </a:pP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Nesse caso, ele vai realizar a soma de i,  n-1 vezes.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432662" y="7975550"/>
            <a:ext cx="1780472" cy="30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2"/>
              </a:lnSpc>
            </a:pPr>
            <a:r>
              <a:rPr lang="en-US" sz="1823">
                <a:solidFill>
                  <a:srgbClr val="29B563"/>
                </a:solidFill>
                <a:latin typeface="Open Sans"/>
                <a:ea typeface="Open Sans"/>
                <a:cs typeface="Open Sans"/>
                <a:sym typeface="Open Sans"/>
              </a:rPr>
              <a:t>de onde começa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48180" y="2017869"/>
            <a:ext cx="1318029" cy="62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2"/>
              </a:lnSpc>
            </a:pPr>
            <a:r>
              <a:rPr lang="en-US" sz="1823">
                <a:solidFill>
                  <a:srgbClr val="29B563"/>
                </a:solidFill>
                <a:latin typeface="Open Sans"/>
                <a:ea typeface="Open Sans"/>
                <a:cs typeface="Open Sans"/>
                <a:sym typeface="Open Sans"/>
              </a:rPr>
              <a:t>até onde vai</a:t>
            </a:r>
          </a:p>
          <a:p>
            <a:pPr algn="ctr">
              <a:lnSpc>
                <a:spcPts val="255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512592" y="4378837"/>
            <a:ext cx="1268652" cy="30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2"/>
              </a:lnSpc>
            </a:pPr>
            <a:r>
              <a:rPr lang="en-US" sz="1823">
                <a:solidFill>
                  <a:srgbClr val="29B563"/>
                </a:solidFill>
                <a:latin typeface="Open Sans"/>
                <a:ea typeface="Open Sans"/>
                <a:cs typeface="Open Sans"/>
                <a:sym typeface="Open Sans"/>
              </a:rPr>
              <a:t>o que soma</a:t>
            </a:r>
          </a:p>
        </p:txBody>
      </p:sp>
      <p:sp>
        <p:nvSpPr>
          <p:cNvPr name="AutoShape 11" id="11"/>
          <p:cNvSpPr/>
          <p:nvPr/>
        </p:nvSpPr>
        <p:spPr>
          <a:xfrm flipH="true" flipV="true">
            <a:off x="6364363" y="2493872"/>
            <a:ext cx="1647164" cy="950990"/>
          </a:xfrm>
          <a:prstGeom prst="line">
            <a:avLst/>
          </a:prstGeom>
          <a:ln cap="flat" w="38100">
            <a:solidFill>
              <a:srgbClr val="68D6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>
            <a:off x="8322898" y="6737230"/>
            <a:ext cx="0" cy="1141545"/>
          </a:xfrm>
          <a:prstGeom prst="line">
            <a:avLst/>
          </a:prstGeom>
          <a:ln cap="flat" w="38100">
            <a:solidFill>
              <a:srgbClr val="68D6A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9065071" y="4870091"/>
            <a:ext cx="148063" cy="273409"/>
          </a:xfrm>
          <a:prstGeom prst="line">
            <a:avLst/>
          </a:prstGeom>
          <a:ln cap="flat" w="38100">
            <a:solidFill>
              <a:srgbClr val="68D6A3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0626" y="-1513365"/>
            <a:ext cx="18404631" cy="13313729"/>
            <a:chOff x="0" y="0"/>
            <a:chExt cx="8778112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78111" cy="6350000"/>
            </a:xfrm>
            <a:custGeom>
              <a:avLst/>
              <a:gdLst/>
              <a:ahLst/>
              <a:cxnLst/>
              <a:rect r="r" b="b" t="t" l="l"/>
              <a:pathLst>
                <a:path h="6350000" w="8778111">
                  <a:moveTo>
                    <a:pt x="4389056" y="0"/>
                  </a:moveTo>
                  <a:cubicBezTo>
                    <a:pt x="1965047" y="0"/>
                    <a:pt x="0" y="1421496"/>
                    <a:pt x="0" y="3175000"/>
                  </a:cubicBezTo>
                  <a:cubicBezTo>
                    <a:pt x="0" y="4928504"/>
                    <a:pt x="1965047" y="6350000"/>
                    <a:pt x="4389056" y="6350000"/>
                  </a:cubicBezTo>
                  <a:cubicBezTo>
                    <a:pt x="6813065" y="6350000"/>
                    <a:pt x="8778111" y="4928504"/>
                    <a:pt x="8778111" y="3175000"/>
                  </a:cubicBezTo>
                  <a:cubicBezTo>
                    <a:pt x="8778111" y="1421496"/>
                    <a:pt x="6813065" y="0"/>
                    <a:pt x="4389056" y="0"/>
                  </a:cubicBezTo>
                  <a:close/>
                </a:path>
              </a:pathLst>
            </a:custGeom>
            <a:solidFill>
              <a:srgbClr val="48B28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5611" y="2513992"/>
            <a:ext cx="9686514" cy="4144591"/>
            <a:chOff x="0" y="0"/>
            <a:chExt cx="12915352" cy="552612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9525"/>
              <a:ext cx="12915352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Qual o método de resolução de somatorios?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568417"/>
              <a:ext cx="12915352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ideia de resolver um somatório é basicamente quebrar ele somatórios mais simples, dos quais já conhecemos a fórmula fechada. Assim sumimos com o simbólo do somatório e ficamos com apenas equações. </a:t>
              </a:r>
              <a:r>
                <a:rPr lang="en-US" sz="21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</a:t>
              </a: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1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que veremos a seguir são técnicas para simplificar os somatórios.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26681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242248" y="2911501"/>
            <a:ext cx="9630601" cy="4463997"/>
          </a:xfrm>
          <a:custGeom>
            <a:avLst/>
            <a:gdLst/>
            <a:ahLst/>
            <a:cxnLst/>
            <a:rect r="r" b="b" t="t" l="l"/>
            <a:pathLst>
              <a:path h="4463997" w="9630601">
                <a:moveTo>
                  <a:pt x="0" y="0"/>
                </a:moveTo>
                <a:lnTo>
                  <a:pt x="9630601" y="0"/>
                </a:lnTo>
                <a:lnTo>
                  <a:pt x="9630601" y="4463998"/>
                </a:lnTo>
                <a:lnTo>
                  <a:pt x="0" y="446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41" t="0" r="-14205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282245"/>
            <a:ext cx="5774688" cy="3166110"/>
            <a:chOff x="0" y="0"/>
            <a:chExt cx="7699584" cy="42214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Distributividade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eu tenho uma constante eu posso jogar pra fora ou pra dentro! Isso vale tanto para divisões tanto para multiplicações.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852663" y="-289405"/>
            <a:ext cx="7816825" cy="10576405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302560" y="1724548"/>
            <a:ext cx="9990172" cy="3043434"/>
          </a:xfrm>
          <a:custGeom>
            <a:avLst/>
            <a:gdLst/>
            <a:ahLst/>
            <a:cxnLst/>
            <a:rect r="r" b="b" t="t" l="l"/>
            <a:pathLst>
              <a:path h="3043434" w="9990172">
                <a:moveTo>
                  <a:pt x="0" y="0"/>
                </a:moveTo>
                <a:lnTo>
                  <a:pt x="9990172" y="0"/>
                </a:lnTo>
                <a:lnTo>
                  <a:pt x="9990172" y="3043434"/>
                </a:lnTo>
                <a:lnTo>
                  <a:pt x="0" y="3043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939" t="-34341" r="-5405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2560" y="4854095"/>
            <a:ext cx="9990172" cy="3654456"/>
          </a:xfrm>
          <a:custGeom>
            <a:avLst/>
            <a:gdLst/>
            <a:ahLst/>
            <a:cxnLst/>
            <a:rect r="r" b="b" t="t" l="l"/>
            <a:pathLst>
              <a:path h="3654456" w="9990172">
                <a:moveTo>
                  <a:pt x="0" y="0"/>
                </a:moveTo>
                <a:lnTo>
                  <a:pt x="9990172" y="0"/>
                </a:lnTo>
                <a:lnTo>
                  <a:pt x="9990172" y="3654456"/>
                </a:lnTo>
                <a:lnTo>
                  <a:pt x="0" y="3654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98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492243" y="1295400"/>
            <a:ext cx="5774688" cy="3166110"/>
            <a:chOff x="0" y="0"/>
            <a:chExt cx="7699584" cy="42214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Associatividade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É possível quebrar somas e subtrações em diferentes somatórios. No entanto, não se pode fazer o mesmo com multiplicações e divisões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7935218" y="3051038"/>
            <a:ext cx="10235721" cy="4096706"/>
          </a:xfrm>
          <a:custGeom>
            <a:avLst/>
            <a:gdLst/>
            <a:ahLst/>
            <a:cxnLst/>
            <a:rect r="r" b="b" t="t" l="l"/>
            <a:pathLst>
              <a:path h="4096706" w="10235721">
                <a:moveTo>
                  <a:pt x="0" y="0"/>
                </a:moveTo>
                <a:lnTo>
                  <a:pt x="10235722" y="0"/>
                </a:lnTo>
                <a:lnTo>
                  <a:pt x="10235722" y="4096706"/>
                </a:lnTo>
                <a:lnTo>
                  <a:pt x="0" y="4096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96" t="0" r="-2313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282245"/>
            <a:ext cx="5774688" cy="3537585"/>
            <a:chOff x="0" y="0"/>
            <a:chExt cx="7699584" cy="47167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Comutatividade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ordem não importa. Por exemplo: não importa se eu to fazendo um for somando ou decrementando, se os limites forem os mesmos (apesar de invertidos) o custo vai ser o mesmo.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852663" y="-289405"/>
            <a:ext cx="7816825" cy="10576405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331496" y="407099"/>
            <a:ext cx="10219373" cy="2193523"/>
          </a:xfrm>
          <a:custGeom>
            <a:avLst/>
            <a:gdLst/>
            <a:ahLst/>
            <a:cxnLst/>
            <a:rect r="r" b="b" t="t" l="l"/>
            <a:pathLst>
              <a:path h="2193523" w="10219373">
                <a:moveTo>
                  <a:pt x="0" y="0"/>
                </a:moveTo>
                <a:lnTo>
                  <a:pt x="10219373" y="0"/>
                </a:lnTo>
                <a:lnTo>
                  <a:pt x="10219373" y="2193523"/>
                </a:lnTo>
                <a:lnTo>
                  <a:pt x="0" y="219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63" t="-53657" r="-23034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963" y="2511183"/>
            <a:ext cx="10550440" cy="3872717"/>
          </a:xfrm>
          <a:custGeom>
            <a:avLst/>
            <a:gdLst/>
            <a:ahLst/>
            <a:cxnLst/>
            <a:rect r="r" b="b" t="t" l="l"/>
            <a:pathLst>
              <a:path h="3872717" w="10550440">
                <a:moveTo>
                  <a:pt x="0" y="0"/>
                </a:moveTo>
                <a:lnTo>
                  <a:pt x="10550440" y="0"/>
                </a:lnTo>
                <a:lnTo>
                  <a:pt x="10550440" y="3872717"/>
                </a:lnTo>
                <a:lnTo>
                  <a:pt x="0" y="38727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80" y="6383900"/>
            <a:ext cx="10847405" cy="3496001"/>
          </a:xfrm>
          <a:custGeom>
            <a:avLst/>
            <a:gdLst/>
            <a:ahLst/>
            <a:cxnLst/>
            <a:rect r="r" b="b" t="t" l="l"/>
            <a:pathLst>
              <a:path h="3496001" w="10847405">
                <a:moveTo>
                  <a:pt x="0" y="0"/>
                </a:moveTo>
                <a:lnTo>
                  <a:pt x="10847405" y="0"/>
                </a:lnTo>
                <a:lnTo>
                  <a:pt x="10847405" y="3496001"/>
                </a:lnTo>
                <a:lnTo>
                  <a:pt x="0" y="3496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492243" y="1295400"/>
            <a:ext cx="5774688" cy="3851910"/>
            <a:chOff x="0" y="0"/>
            <a:chExt cx="7699584" cy="51358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175" y="9525"/>
              <a:ext cx="7689409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Combinação de Conjuntos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673475"/>
              <a:ext cx="7699584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Com algumas adaptações é possível unificar somatórios com limites diferentes.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16446" y="4299504"/>
            <a:ext cx="7448314" cy="1687992"/>
          </a:xfrm>
          <a:custGeom>
            <a:avLst/>
            <a:gdLst/>
            <a:ahLst/>
            <a:cxnLst/>
            <a:rect r="r" b="b" t="t" l="l"/>
            <a:pathLst>
              <a:path h="1687992" w="7448314">
                <a:moveTo>
                  <a:pt x="0" y="0"/>
                </a:moveTo>
                <a:lnTo>
                  <a:pt x="7448314" y="0"/>
                </a:lnTo>
                <a:lnTo>
                  <a:pt x="7448314" y="1687992"/>
                </a:lnTo>
                <a:lnTo>
                  <a:pt x="0" y="1687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064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2915" y="8754110"/>
            <a:ext cx="1903256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Voltar ao </a:t>
            </a:r>
            <a:r>
              <a:rPr lang="en-US" b="true" sz="16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16446" y="2053978"/>
            <a:ext cx="7655107" cy="2051685"/>
            <a:chOff x="0" y="0"/>
            <a:chExt cx="10206810" cy="27355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3488" y="9525"/>
              <a:ext cx="1019332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Somatório da Constante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1020681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0" y="7060565"/>
            <a:ext cx="18288000" cy="113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29B563"/>
                </a:solidFill>
                <a:latin typeface="Open Sauce"/>
                <a:ea typeface="Open Sauce"/>
                <a:cs typeface="Open Sauce"/>
                <a:sym typeface="Open Sauce"/>
              </a:rPr>
              <a:t>O somatório de uma constante é igual ao valor da constante multiplicado pelo número de vezes que ela é somada.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0090" y="3827220"/>
            <a:ext cx="8827820" cy="4734205"/>
          </a:xfrm>
          <a:custGeom>
            <a:avLst/>
            <a:gdLst/>
            <a:ahLst/>
            <a:cxnLst/>
            <a:rect r="r" b="b" t="t" l="l"/>
            <a:pathLst>
              <a:path h="4734205" w="8827820">
                <a:moveTo>
                  <a:pt x="0" y="0"/>
                </a:moveTo>
                <a:lnTo>
                  <a:pt x="8827820" y="0"/>
                </a:lnTo>
                <a:lnTo>
                  <a:pt x="8827820" y="4734205"/>
                </a:lnTo>
                <a:lnTo>
                  <a:pt x="0" y="4734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75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2915" y="8754110"/>
            <a:ext cx="1903256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Voltar ao </a:t>
            </a:r>
            <a:r>
              <a:rPr lang="en-US" b="true" sz="16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2366" y="3952287"/>
            <a:ext cx="63830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5993950" y="2053978"/>
            <a:ext cx="6300099" cy="2051685"/>
            <a:chOff x="0" y="0"/>
            <a:chExt cx="8400132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Somatório de Gauss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283994" y="8962390"/>
            <a:ext cx="7720012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29B563"/>
                </a:solidFill>
                <a:latin typeface="Open Sauce"/>
                <a:ea typeface="Open Sauce"/>
                <a:cs typeface="Open Sauce"/>
                <a:sym typeface="Open Sauce"/>
              </a:rPr>
              <a:t>O n vai ser sempre o limite superior.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44234" y="2942056"/>
            <a:ext cx="10599533" cy="5940007"/>
          </a:xfrm>
          <a:custGeom>
            <a:avLst/>
            <a:gdLst/>
            <a:ahLst/>
            <a:cxnLst/>
            <a:rect r="r" b="b" t="t" l="l"/>
            <a:pathLst>
              <a:path h="5940007" w="10599533">
                <a:moveTo>
                  <a:pt x="0" y="0"/>
                </a:moveTo>
                <a:lnTo>
                  <a:pt x="10599532" y="0"/>
                </a:lnTo>
                <a:lnTo>
                  <a:pt x="10599532" y="5940007"/>
                </a:lnTo>
                <a:lnTo>
                  <a:pt x="0" y="5940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2915" y="8754110"/>
            <a:ext cx="1903256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"/>
              </a:lnSpc>
            </a:pPr>
            <a:r>
              <a:rPr lang="en-US" sz="16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Voltar ao </a:t>
            </a:r>
            <a:r>
              <a:rPr lang="en-US" b="true" sz="16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índice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2366" y="3952287"/>
            <a:ext cx="638305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5993950" y="1749792"/>
            <a:ext cx="6300099" cy="2051685"/>
            <a:chOff x="0" y="0"/>
            <a:chExt cx="8400132" cy="27355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Somatório da PG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067323" y="3097898"/>
            <a:ext cx="9914676" cy="3854417"/>
          </a:xfrm>
          <a:custGeom>
            <a:avLst/>
            <a:gdLst/>
            <a:ahLst/>
            <a:cxnLst/>
            <a:rect r="r" b="b" t="t" l="l"/>
            <a:pathLst>
              <a:path h="3854417" w="9914676">
                <a:moveTo>
                  <a:pt x="0" y="0"/>
                </a:moveTo>
                <a:lnTo>
                  <a:pt x="9914676" y="0"/>
                </a:lnTo>
                <a:lnTo>
                  <a:pt x="9914676" y="3854418"/>
                </a:lnTo>
                <a:lnTo>
                  <a:pt x="0" y="3854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282245"/>
            <a:ext cx="5774688" cy="3851910"/>
            <a:chOff x="0" y="0"/>
            <a:chExt cx="7699584" cy="51358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Base pra Perturbação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673475"/>
              <a:ext cx="7699584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Atráves da manipulação dessa fórmula podemos obter a fórmula fechada de um somatório.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3629" y="2869257"/>
            <a:ext cx="14420743" cy="5786323"/>
          </a:xfrm>
          <a:custGeom>
            <a:avLst/>
            <a:gdLst/>
            <a:ahLst/>
            <a:cxnLst/>
            <a:rect r="r" b="b" t="t" l="l"/>
            <a:pathLst>
              <a:path h="5786323" w="14420743">
                <a:moveTo>
                  <a:pt x="0" y="0"/>
                </a:moveTo>
                <a:lnTo>
                  <a:pt x="14420742" y="0"/>
                </a:lnTo>
                <a:lnTo>
                  <a:pt x="14420742" y="5786323"/>
                </a:lnTo>
                <a:lnTo>
                  <a:pt x="0" y="5786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88212" y="1583795"/>
            <a:ext cx="1165383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9B563"/>
                </a:solidFill>
                <a:latin typeface="Open Sauce"/>
                <a:ea typeface="Open Sauce"/>
                <a:cs typeface="Open Sauce"/>
                <a:sym typeface="Open Sauce"/>
              </a:rPr>
              <a:t>Os dois lados da equação são a mesma coisa escrita de forma diferente.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8794038" y="2449942"/>
            <a:ext cx="8437932" cy="5217484"/>
          </a:xfrm>
          <a:custGeom>
            <a:avLst/>
            <a:gdLst/>
            <a:ahLst/>
            <a:cxnLst/>
            <a:rect r="r" b="b" t="t" l="l"/>
            <a:pathLst>
              <a:path h="5217484" w="8437932">
                <a:moveTo>
                  <a:pt x="0" y="0"/>
                </a:moveTo>
                <a:lnTo>
                  <a:pt x="8437931" y="0"/>
                </a:lnTo>
                <a:lnTo>
                  <a:pt x="8437931" y="5217485"/>
                </a:lnTo>
                <a:lnTo>
                  <a:pt x="0" y="5217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74829" y="114548"/>
            <a:ext cx="6076350" cy="2335394"/>
          </a:xfrm>
          <a:custGeom>
            <a:avLst/>
            <a:gdLst/>
            <a:ahLst/>
            <a:cxnLst/>
            <a:rect r="r" b="b" t="t" l="l"/>
            <a:pathLst>
              <a:path h="2335394" w="6076350">
                <a:moveTo>
                  <a:pt x="0" y="0"/>
                </a:moveTo>
                <a:lnTo>
                  <a:pt x="6076349" y="0"/>
                </a:lnTo>
                <a:lnTo>
                  <a:pt x="6076349" y="2335394"/>
                </a:lnTo>
                <a:lnTo>
                  <a:pt x="0" y="233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46989" y="7667427"/>
            <a:ext cx="9732030" cy="1890938"/>
          </a:xfrm>
          <a:custGeom>
            <a:avLst/>
            <a:gdLst/>
            <a:ahLst/>
            <a:cxnLst/>
            <a:rect r="r" b="b" t="t" l="l"/>
            <a:pathLst>
              <a:path h="1890938" w="9732030">
                <a:moveTo>
                  <a:pt x="0" y="0"/>
                </a:moveTo>
                <a:lnTo>
                  <a:pt x="9732030" y="0"/>
                </a:lnTo>
                <a:lnTo>
                  <a:pt x="9732030" y="1890938"/>
                </a:lnTo>
                <a:lnTo>
                  <a:pt x="0" y="18909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282245"/>
            <a:ext cx="5774688" cy="4594860"/>
            <a:chOff x="0" y="0"/>
            <a:chExt cx="7699584" cy="61264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10175" y="9525"/>
              <a:ext cx="7689409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Base pra Perturbação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673475"/>
              <a:ext cx="7699584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Ao usar a propriedade da perturbação para obter o somatório de uma potência, devemos sempre perturbar o somatório de uma potência acima, por causa do seguinte: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769704" y="-289405"/>
            <a:ext cx="7816825" cy="10576405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308136" y="3841300"/>
            <a:ext cx="10094743" cy="2604401"/>
          </a:xfrm>
          <a:custGeom>
            <a:avLst/>
            <a:gdLst/>
            <a:ahLst/>
            <a:cxnLst/>
            <a:rect r="r" b="b" t="t" l="l"/>
            <a:pathLst>
              <a:path h="2604401" w="10094743">
                <a:moveTo>
                  <a:pt x="0" y="0"/>
                </a:moveTo>
                <a:lnTo>
                  <a:pt x="10094743" y="0"/>
                </a:lnTo>
                <a:lnTo>
                  <a:pt x="10094743" y="2604400"/>
                </a:lnTo>
                <a:lnTo>
                  <a:pt x="0" y="2604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492243" y="1295400"/>
            <a:ext cx="5774688" cy="5337810"/>
            <a:chOff x="0" y="0"/>
            <a:chExt cx="7699584" cy="71170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139">
                  <a:solidFill>
                    <a:srgbClr val="FFFFFF"/>
                  </a:solidFill>
                  <a:latin typeface="Antonio Bold"/>
                  <a:ea typeface="Antonio Bold"/>
                  <a:cs typeface="Antonio Bold"/>
                  <a:sym typeface="Antonio Bold"/>
                </a:rPr>
                <a:t>Prova por Indução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673475"/>
              <a:ext cx="7699584" cy="344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Primeiro testamos o caso base (o primeiro caso para qual o limite superior é válido).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 o caso base estiver correto partimos para a fórmula. Nesse caso o n seria o limite superior e o n - 1 é sempre usado como n - 1.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10296"/>
            <a:ext cx="16230600" cy="3266408"/>
          </a:xfrm>
          <a:custGeom>
            <a:avLst/>
            <a:gdLst/>
            <a:ahLst/>
            <a:cxnLst/>
            <a:rect r="r" b="b" t="t" l="l"/>
            <a:pathLst>
              <a:path h="3266408" w="16230600">
                <a:moveTo>
                  <a:pt x="0" y="0"/>
                </a:moveTo>
                <a:lnTo>
                  <a:pt x="16230600" y="0"/>
                </a:lnTo>
                <a:lnTo>
                  <a:pt x="16230600" y="3266408"/>
                </a:lnTo>
                <a:lnTo>
                  <a:pt x="0" y="326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552133"/>
            <a:ext cx="16230600" cy="3388138"/>
          </a:xfrm>
          <a:custGeom>
            <a:avLst/>
            <a:gdLst/>
            <a:ahLst/>
            <a:cxnLst/>
            <a:rect r="r" b="b" t="t" l="l"/>
            <a:pathLst>
              <a:path h="3388138" w="16230600">
                <a:moveTo>
                  <a:pt x="0" y="0"/>
                </a:moveTo>
                <a:lnTo>
                  <a:pt x="16230600" y="0"/>
                </a:lnTo>
                <a:lnTo>
                  <a:pt x="16230600" y="3388138"/>
                </a:lnTo>
                <a:lnTo>
                  <a:pt x="0" y="338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987070"/>
            <a:ext cx="16230600" cy="2312860"/>
          </a:xfrm>
          <a:custGeom>
            <a:avLst/>
            <a:gdLst/>
            <a:ahLst/>
            <a:cxnLst/>
            <a:rect r="r" b="b" t="t" l="l"/>
            <a:pathLst>
              <a:path h="2312860" w="16230600">
                <a:moveTo>
                  <a:pt x="0" y="0"/>
                </a:moveTo>
                <a:lnTo>
                  <a:pt x="16230600" y="0"/>
                </a:lnTo>
                <a:lnTo>
                  <a:pt x="16230600" y="2312860"/>
                </a:lnTo>
                <a:lnTo>
                  <a:pt x="0" y="2312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00338"/>
            <a:ext cx="16230600" cy="6390799"/>
          </a:xfrm>
          <a:custGeom>
            <a:avLst/>
            <a:gdLst/>
            <a:ahLst/>
            <a:cxnLst/>
            <a:rect r="r" b="b" t="t" l="l"/>
            <a:pathLst>
              <a:path h="6390799" w="16230600">
                <a:moveTo>
                  <a:pt x="0" y="0"/>
                </a:moveTo>
                <a:lnTo>
                  <a:pt x="16230600" y="0"/>
                </a:lnTo>
                <a:lnTo>
                  <a:pt x="16230600" y="6390798"/>
                </a:lnTo>
                <a:lnTo>
                  <a:pt x="0" y="6390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225" y="2705195"/>
            <a:ext cx="16230600" cy="6553105"/>
          </a:xfrm>
          <a:custGeom>
            <a:avLst/>
            <a:gdLst/>
            <a:ahLst/>
            <a:cxnLst/>
            <a:rect r="r" b="b" t="t" l="l"/>
            <a:pathLst>
              <a:path h="6553105" w="16230600">
                <a:moveTo>
                  <a:pt x="0" y="0"/>
                </a:moveTo>
                <a:lnTo>
                  <a:pt x="16230600" y="0"/>
                </a:lnTo>
                <a:lnTo>
                  <a:pt x="16230600" y="6553105"/>
                </a:lnTo>
                <a:lnTo>
                  <a:pt x="0" y="6553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5772"/>
            <a:ext cx="16230600" cy="6512528"/>
          </a:xfrm>
          <a:custGeom>
            <a:avLst/>
            <a:gdLst/>
            <a:ahLst/>
            <a:cxnLst/>
            <a:rect r="r" b="b" t="t" l="l"/>
            <a:pathLst>
              <a:path h="6512528" w="16230600">
                <a:moveTo>
                  <a:pt x="0" y="0"/>
                </a:moveTo>
                <a:lnTo>
                  <a:pt x="16230600" y="0"/>
                </a:lnTo>
                <a:lnTo>
                  <a:pt x="16230600" y="6512528"/>
                </a:lnTo>
                <a:lnTo>
                  <a:pt x="0" y="6512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03754"/>
            <a:ext cx="16230600" cy="6654546"/>
          </a:xfrm>
          <a:custGeom>
            <a:avLst/>
            <a:gdLst/>
            <a:ahLst/>
            <a:cxnLst/>
            <a:rect r="r" b="b" t="t" l="l"/>
            <a:pathLst>
              <a:path h="6654546" w="16230600">
                <a:moveTo>
                  <a:pt x="0" y="0"/>
                </a:moveTo>
                <a:lnTo>
                  <a:pt x="16230600" y="0"/>
                </a:lnTo>
                <a:lnTo>
                  <a:pt x="16230600" y="6654546"/>
                </a:lnTo>
                <a:lnTo>
                  <a:pt x="0" y="6654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66060"/>
            <a:ext cx="16230600" cy="6492240"/>
          </a:xfrm>
          <a:custGeom>
            <a:avLst/>
            <a:gdLst/>
            <a:ahLst/>
            <a:cxnLst/>
            <a:rect r="r" b="b" t="t" l="l"/>
            <a:pathLst>
              <a:path h="6492240" w="16230600">
                <a:moveTo>
                  <a:pt x="0" y="0"/>
                </a:moveTo>
                <a:lnTo>
                  <a:pt x="16230600" y="0"/>
                </a:lnTo>
                <a:lnTo>
                  <a:pt x="16230600" y="6492240"/>
                </a:lnTo>
                <a:lnTo>
                  <a:pt x="0" y="6492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806637"/>
            <a:ext cx="16230600" cy="6451663"/>
          </a:xfrm>
          <a:custGeom>
            <a:avLst/>
            <a:gdLst/>
            <a:ahLst/>
            <a:cxnLst/>
            <a:rect r="r" b="b" t="t" l="l"/>
            <a:pathLst>
              <a:path h="6451663" w="16230600">
                <a:moveTo>
                  <a:pt x="0" y="0"/>
                </a:moveTo>
                <a:lnTo>
                  <a:pt x="16230600" y="0"/>
                </a:lnTo>
                <a:lnTo>
                  <a:pt x="16230600" y="6451663"/>
                </a:lnTo>
                <a:lnTo>
                  <a:pt x="0" y="645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806637"/>
            <a:ext cx="16230600" cy="6451663"/>
          </a:xfrm>
          <a:custGeom>
            <a:avLst/>
            <a:gdLst/>
            <a:ahLst/>
            <a:cxnLst/>
            <a:rect r="r" b="b" t="t" l="l"/>
            <a:pathLst>
              <a:path h="6451663" w="16230600">
                <a:moveTo>
                  <a:pt x="0" y="0"/>
                </a:moveTo>
                <a:lnTo>
                  <a:pt x="16230600" y="0"/>
                </a:lnTo>
                <a:lnTo>
                  <a:pt x="16230600" y="6451663"/>
                </a:lnTo>
                <a:lnTo>
                  <a:pt x="0" y="645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7750" y="2806637"/>
            <a:ext cx="16230600" cy="6451663"/>
          </a:xfrm>
          <a:custGeom>
            <a:avLst/>
            <a:gdLst/>
            <a:ahLst/>
            <a:cxnLst/>
            <a:rect r="r" b="b" t="t" l="l"/>
            <a:pathLst>
              <a:path h="6451663" w="16230600">
                <a:moveTo>
                  <a:pt x="0" y="0"/>
                </a:moveTo>
                <a:lnTo>
                  <a:pt x="16230600" y="0"/>
                </a:lnTo>
                <a:lnTo>
                  <a:pt x="16230600" y="6451663"/>
                </a:lnTo>
                <a:lnTo>
                  <a:pt x="0" y="645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6300099" cy="2051685"/>
            <a:chOff x="0" y="0"/>
            <a:chExt cx="8400132" cy="2735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1101" y="9525"/>
              <a:ext cx="8389031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29B563"/>
                  </a:solidFill>
                  <a:latin typeface="Antonio"/>
                  <a:ea typeface="Antonio"/>
                  <a:cs typeface="Antonio"/>
                  <a:sym typeface="Antonio"/>
                </a:rPr>
                <a:t>Prova por Indução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63775"/>
              <a:ext cx="840013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36458" y="1297663"/>
            <a:ext cx="14215085" cy="8404669"/>
          </a:xfrm>
          <a:custGeom>
            <a:avLst/>
            <a:gdLst/>
            <a:ahLst/>
            <a:cxnLst/>
            <a:rect r="r" b="b" t="t" l="l"/>
            <a:pathLst>
              <a:path h="8404669" w="14215085">
                <a:moveTo>
                  <a:pt x="0" y="0"/>
                </a:moveTo>
                <a:lnTo>
                  <a:pt x="14215084" y="0"/>
                </a:lnTo>
                <a:lnTo>
                  <a:pt x="14215084" y="8404669"/>
                </a:lnTo>
                <a:lnTo>
                  <a:pt x="0" y="8404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6689" y="509587"/>
            <a:ext cx="803462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9B563"/>
                </a:solidFill>
                <a:latin typeface="Antonio"/>
                <a:ea typeface="Antonio"/>
                <a:cs typeface="Antonio"/>
                <a:sym typeface="Antonio"/>
              </a:rPr>
              <a:t>Análise de Complexidade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9908893" y="2354997"/>
            <a:ext cx="6047198" cy="5577005"/>
          </a:xfrm>
          <a:custGeom>
            <a:avLst/>
            <a:gdLst/>
            <a:ahLst/>
            <a:cxnLst/>
            <a:rect r="r" b="b" t="t" l="l"/>
            <a:pathLst>
              <a:path h="5577005" w="6047198">
                <a:moveTo>
                  <a:pt x="0" y="0"/>
                </a:moveTo>
                <a:lnTo>
                  <a:pt x="6047198" y="0"/>
                </a:lnTo>
                <a:lnTo>
                  <a:pt x="6047198" y="5577006"/>
                </a:lnTo>
                <a:lnTo>
                  <a:pt x="0" y="5577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282245"/>
            <a:ext cx="5774688" cy="3166110"/>
            <a:chOff x="0" y="0"/>
            <a:chExt cx="7699584" cy="42214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Notações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63775"/>
              <a:ext cx="7699584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Indica a tendência de crescimento da função.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Nós ignoramos as contantes e os termos de crescimento mais lento.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333534" y="4873978"/>
            <a:ext cx="5149758" cy="4749345"/>
          </a:xfrm>
          <a:custGeom>
            <a:avLst/>
            <a:gdLst/>
            <a:ahLst/>
            <a:cxnLst/>
            <a:rect r="r" b="b" t="t" l="l"/>
            <a:pathLst>
              <a:path h="4749345" w="5149758">
                <a:moveTo>
                  <a:pt x="0" y="0"/>
                </a:moveTo>
                <a:lnTo>
                  <a:pt x="5149758" y="0"/>
                </a:lnTo>
                <a:lnTo>
                  <a:pt x="5149758" y="4749345"/>
                </a:lnTo>
                <a:lnTo>
                  <a:pt x="0" y="4749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76108" y="3587796"/>
            <a:ext cx="8583192" cy="3111407"/>
          </a:xfrm>
          <a:custGeom>
            <a:avLst/>
            <a:gdLst/>
            <a:ahLst/>
            <a:cxnLst/>
            <a:rect r="r" b="b" t="t" l="l"/>
            <a:pathLst>
              <a:path h="3111407" w="8583192">
                <a:moveTo>
                  <a:pt x="0" y="0"/>
                </a:moveTo>
                <a:lnTo>
                  <a:pt x="8583192" y="0"/>
                </a:lnTo>
                <a:lnTo>
                  <a:pt x="8583192" y="3111408"/>
                </a:lnTo>
                <a:lnTo>
                  <a:pt x="0" y="3111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282245"/>
            <a:ext cx="5774688" cy="3166110"/>
            <a:chOff x="0" y="0"/>
            <a:chExt cx="7699584" cy="42214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Notações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Indica a tendência de crescimento da função.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Nós ignoramos as contantes e os termos de crescimento mais lento.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816825" cy="10287000"/>
          </a:xfrm>
          <a:prstGeom prst="rect">
            <a:avLst/>
          </a:prstGeom>
          <a:solidFill>
            <a:srgbClr val="48B281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333534" y="4873978"/>
            <a:ext cx="5149758" cy="4749345"/>
          </a:xfrm>
          <a:custGeom>
            <a:avLst/>
            <a:gdLst/>
            <a:ahLst/>
            <a:cxnLst/>
            <a:rect r="r" b="b" t="t" l="l"/>
            <a:pathLst>
              <a:path h="4749345" w="5149758">
                <a:moveTo>
                  <a:pt x="0" y="0"/>
                </a:moveTo>
                <a:lnTo>
                  <a:pt x="5149758" y="0"/>
                </a:lnTo>
                <a:lnTo>
                  <a:pt x="5149758" y="4749345"/>
                </a:lnTo>
                <a:lnTo>
                  <a:pt x="0" y="4749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37544" y="3959696"/>
            <a:ext cx="6531331" cy="2367607"/>
          </a:xfrm>
          <a:custGeom>
            <a:avLst/>
            <a:gdLst/>
            <a:ahLst/>
            <a:cxnLst/>
            <a:rect r="r" b="b" t="t" l="l"/>
            <a:pathLst>
              <a:path h="2367607" w="6531331">
                <a:moveTo>
                  <a:pt x="0" y="0"/>
                </a:moveTo>
                <a:lnTo>
                  <a:pt x="6531331" y="0"/>
                </a:lnTo>
                <a:lnTo>
                  <a:pt x="6531331" y="2367608"/>
                </a:lnTo>
                <a:lnTo>
                  <a:pt x="0" y="2367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282245"/>
            <a:ext cx="5774688" cy="3166110"/>
            <a:chOff x="0" y="0"/>
            <a:chExt cx="7699584" cy="422148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175" y="9525"/>
              <a:ext cx="7689409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 spc="-139">
                  <a:solidFill>
                    <a:srgbClr val="FFFFFF"/>
                  </a:solidFill>
                  <a:latin typeface="Antonio"/>
                  <a:ea typeface="Antonio"/>
                  <a:cs typeface="Antonio"/>
                  <a:sym typeface="Antonio"/>
                </a:rPr>
                <a:t>Notações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63775"/>
              <a:ext cx="7699584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Indica a tendência de crescimento da função.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Nós ignoramos as contantes e os termos de crescimento mais lento.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693" y="2288836"/>
            <a:ext cx="15430615" cy="4764202"/>
          </a:xfrm>
          <a:custGeom>
            <a:avLst/>
            <a:gdLst/>
            <a:ahLst/>
            <a:cxnLst/>
            <a:rect r="r" b="b" t="t" l="l"/>
            <a:pathLst>
              <a:path h="4764202" w="15430615">
                <a:moveTo>
                  <a:pt x="0" y="0"/>
                </a:moveTo>
                <a:lnTo>
                  <a:pt x="15430614" y="0"/>
                </a:lnTo>
                <a:lnTo>
                  <a:pt x="15430614" y="4764203"/>
                </a:lnTo>
                <a:lnTo>
                  <a:pt x="0" y="4764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693" y="7053039"/>
            <a:ext cx="15430615" cy="945125"/>
          </a:xfrm>
          <a:custGeom>
            <a:avLst/>
            <a:gdLst/>
            <a:ahLst/>
            <a:cxnLst/>
            <a:rect r="r" b="b" t="t" l="l"/>
            <a:pathLst>
              <a:path h="945125" w="15430615">
                <a:moveTo>
                  <a:pt x="0" y="0"/>
                </a:moveTo>
                <a:lnTo>
                  <a:pt x="15430614" y="0"/>
                </a:lnTo>
                <a:lnTo>
                  <a:pt x="15430614" y="945125"/>
                </a:lnTo>
                <a:lnTo>
                  <a:pt x="0" y="945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6931" y="2529039"/>
            <a:ext cx="16534139" cy="5228921"/>
          </a:xfrm>
          <a:custGeom>
            <a:avLst/>
            <a:gdLst/>
            <a:ahLst/>
            <a:cxnLst/>
            <a:rect r="r" b="b" t="t" l="l"/>
            <a:pathLst>
              <a:path h="5228921" w="16534139">
                <a:moveTo>
                  <a:pt x="0" y="0"/>
                </a:moveTo>
                <a:lnTo>
                  <a:pt x="16534138" y="0"/>
                </a:lnTo>
                <a:lnTo>
                  <a:pt x="16534138" y="5228922"/>
                </a:lnTo>
                <a:lnTo>
                  <a:pt x="0" y="5228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5635" y="510987"/>
            <a:ext cx="12756730" cy="9265025"/>
          </a:xfrm>
          <a:custGeom>
            <a:avLst/>
            <a:gdLst/>
            <a:ahLst/>
            <a:cxnLst/>
            <a:rect r="r" b="b" t="t" l="l"/>
            <a:pathLst>
              <a:path h="9265025" w="12756730">
                <a:moveTo>
                  <a:pt x="0" y="0"/>
                </a:moveTo>
                <a:lnTo>
                  <a:pt x="12756730" y="0"/>
                </a:lnTo>
                <a:lnTo>
                  <a:pt x="12756730" y="9265026"/>
                </a:lnTo>
                <a:lnTo>
                  <a:pt x="0" y="9265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58" r="0" b="-858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501" y="1149424"/>
            <a:ext cx="3864127" cy="3864127"/>
          </a:xfrm>
          <a:custGeom>
            <a:avLst/>
            <a:gdLst/>
            <a:ahLst/>
            <a:cxnLst/>
            <a:rect r="r" b="b" t="t" l="l"/>
            <a:pathLst>
              <a:path h="3864127" w="3864127">
                <a:moveTo>
                  <a:pt x="0" y="0"/>
                </a:moveTo>
                <a:lnTo>
                  <a:pt x="3864127" y="0"/>
                </a:lnTo>
                <a:lnTo>
                  <a:pt x="3864127" y="3864127"/>
                </a:lnTo>
                <a:lnTo>
                  <a:pt x="0" y="3864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97084" y="1149424"/>
            <a:ext cx="4025080" cy="4025080"/>
          </a:xfrm>
          <a:custGeom>
            <a:avLst/>
            <a:gdLst/>
            <a:ahLst/>
            <a:cxnLst/>
            <a:rect r="r" b="b" t="t" l="l"/>
            <a:pathLst>
              <a:path h="4025080" w="4025080">
                <a:moveTo>
                  <a:pt x="0" y="0"/>
                </a:moveTo>
                <a:lnTo>
                  <a:pt x="4025080" y="0"/>
                </a:lnTo>
                <a:lnTo>
                  <a:pt x="4025080" y="4025080"/>
                </a:lnTo>
                <a:lnTo>
                  <a:pt x="0" y="4025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501" y="5786200"/>
            <a:ext cx="3875399" cy="3875399"/>
          </a:xfrm>
          <a:custGeom>
            <a:avLst/>
            <a:gdLst/>
            <a:ahLst/>
            <a:cxnLst/>
            <a:rect r="r" b="b" t="t" l="l"/>
            <a:pathLst>
              <a:path h="3875399" w="3875399">
                <a:moveTo>
                  <a:pt x="0" y="0"/>
                </a:moveTo>
                <a:lnTo>
                  <a:pt x="3875399" y="0"/>
                </a:lnTo>
                <a:lnTo>
                  <a:pt x="3875399" y="3875398"/>
                </a:lnTo>
                <a:lnTo>
                  <a:pt x="0" y="38753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97084" y="5707271"/>
            <a:ext cx="3954327" cy="3954327"/>
          </a:xfrm>
          <a:custGeom>
            <a:avLst/>
            <a:gdLst/>
            <a:ahLst/>
            <a:cxnLst/>
            <a:rect r="r" b="b" t="t" l="l"/>
            <a:pathLst>
              <a:path h="3954327" w="3954327">
                <a:moveTo>
                  <a:pt x="0" y="0"/>
                </a:moveTo>
                <a:lnTo>
                  <a:pt x="3954327" y="0"/>
                </a:lnTo>
                <a:lnTo>
                  <a:pt x="3954327" y="3954327"/>
                </a:lnTo>
                <a:lnTo>
                  <a:pt x="0" y="39543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9069" y="599586"/>
            <a:ext cx="183499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9B563"/>
                </a:solidFill>
                <a:latin typeface="Open Sauce"/>
                <a:ea typeface="Open Sauce"/>
                <a:cs typeface="Open Sauce"/>
                <a:sym typeface="Open Sauce"/>
              </a:rPr>
              <a:t>Somatórios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0418" y="589915"/>
            <a:ext cx="125841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9B563"/>
                </a:solidFill>
                <a:latin typeface="Open Sauce"/>
                <a:ea typeface="Open Sauce"/>
                <a:cs typeface="Open Sauce"/>
                <a:sym typeface="Open Sauce"/>
              </a:rPr>
              <a:t>Charset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3920" y="5268486"/>
            <a:ext cx="422529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9B563"/>
                </a:solidFill>
                <a:latin typeface="Open Sauce"/>
                <a:ea typeface="Open Sauce"/>
                <a:cs typeface="Open Sauce"/>
                <a:sym typeface="Open Sauce"/>
              </a:rPr>
              <a:t>Questões Antigas Práticas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3088" y="5197683"/>
            <a:ext cx="257286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9B563"/>
                </a:solidFill>
                <a:latin typeface="Open Sauce"/>
                <a:ea typeface="Open Sauce"/>
                <a:cs typeface="Open Sauce"/>
                <a:sym typeface="Open Sauce"/>
              </a:rPr>
              <a:t>Grupo Monitoria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76991" y="4690317"/>
            <a:ext cx="3534017" cy="99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solidFill>
                  <a:srgbClr val="29B563"/>
                </a:solidFill>
                <a:latin typeface="Anton"/>
                <a:ea typeface="Anton"/>
                <a:cs typeface="Anton"/>
                <a:sym typeface="Anton"/>
              </a:rPr>
              <a:t>Links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DAGxkMi2-ZI</dc:identifier>
  <dcterms:modified xsi:type="dcterms:W3CDTF">2011-08-01T06:04:30Z</dcterms:modified>
  <cp:revision>1</cp:revision>
  <dc:title>Aulao 2 - AEDS 2 Lourdes</dc:title>
</cp:coreProperties>
</file>